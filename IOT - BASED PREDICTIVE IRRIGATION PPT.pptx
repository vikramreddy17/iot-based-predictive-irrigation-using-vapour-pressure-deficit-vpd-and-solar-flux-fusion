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5" r:id="rId3"/>
    <p:sldId id="274" r:id="rId4"/>
    <p:sldId id="258" r:id="rId5"/>
    <p:sldId id="257" r:id="rId6"/>
    <p:sldId id="259" r:id="rId7"/>
    <p:sldId id="260" r:id="rId8"/>
    <p:sldId id="272" r:id="rId9"/>
    <p:sldId id="261" r:id="rId10"/>
    <p:sldId id="265" r:id="rId11"/>
    <p:sldId id="268" r:id="rId12"/>
    <p:sldId id="276" r:id="rId13"/>
    <p:sldId id="277" r:id="rId14"/>
    <p:sldId id="270" r:id="rId15"/>
    <p:sldId id="278" r:id="rId16"/>
    <p:sldId id="279"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16" autoAdjust="0"/>
    <p:restoredTop sz="94610"/>
  </p:normalViewPr>
  <p:slideViewPr>
    <p:cSldViewPr snapToGrid="0" snapToObjects="1">
      <p:cViewPr>
        <p:scale>
          <a:sx n="100" d="100"/>
          <a:sy n="100" d="100"/>
        </p:scale>
        <p:origin x="23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Smart System (L/day)</c:v>
                </c:pt>
              </c:strCache>
            </c:strRef>
          </c:tx>
          <c:spPr>
            <a:solidFill>
              <a:srgbClr val="2ECC71"/>
            </a:solidFill>
            <a:effectLst/>
          </c:spPr>
          <c:invertIfNegative val="0"/>
          <c:dLbls>
            <c:numFmt formatCode="#,##0" sourceLinked="0"/>
            <c:spPr>
              <a:noFill/>
              <a:ln>
                <a:noFill/>
              </a:ln>
              <a:effectLst/>
            </c:spPr>
            <c:txPr>
              <a:bodyPr/>
              <a:lstStyle/>
              <a:p>
                <a:pPr>
                  <a:defRPr sz="900" b="0"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Clear Sky
(High VPD)</c:v>
                </c:pt>
                <c:pt idx="1">
                  <c:v>Partly
Cloudy</c:v>
                </c:pt>
                <c:pt idx="2">
                  <c:v>Overcast
(Low VPD)</c:v>
                </c:pt>
                <c:pt idx="3">
                  <c:v>Clear Sky
(Mod VPD)</c:v>
                </c:pt>
                <c:pt idx="4">
                  <c:v>Mixed
Conditions</c:v>
                </c:pt>
              </c:strCache>
            </c:strRef>
          </c:cat>
          <c:val>
            <c:numRef>
              <c:f>Sheet1!$B$2:$B$6</c:f>
              <c:numCache>
                <c:formatCode>General</c:formatCode>
                <c:ptCount val="5"/>
                <c:pt idx="0">
                  <c:v>3.8</c:v>
                </c:pt>
                <c:pt idx="1">
                  <c:v>2.9</c:v>
                </c:pt>
                <c:pt idx="2">
                  <c:v>1.4</c:v>
                </c:pt>
                <c:pt idx="3">
                  <c:v>3.2</c:v>
                </c:pt>
                <c:pt idx="4">
                  <c:v>2.6</c:v>
                </c:pt>
              </c:numCache>
            </c:numRef>
          </c:val>
          <c:extLst>
            <c:ext xmlns:c16="http://schemas.microsoft.com/office/drawing/2014/chart" uri="{C3380CC4-5D6E-409C-BE32-E72D297353CC}">
              <c16:uniqueId val="{00000000-5406-4EF9-8197-207B0842C8E8}"/>
            </c:ext>
          </c:extLst>
        </c:ser>
        <c:ser>
          <c:idx val="1"/>
          <c:order val="1"/>
          <c:tx>
            <c:strRef>
              <c:f>Sheet1!$C$1</c:f>
              <c:strCache>
                <c:ptCount val="1"/>
                <c:pt idx="0">
                  <c:v>Traditional (L/day)</c:v>
                </c:pt>
              </c:strCache>
            </c:strRef>
          </c:tx>
          <c:spPr>
            <a:solidFill>
              <a:srgbClr val="E74C3C"/>
            </a:solidFill>
            <a:effectLst/>
          </c:spPr>
          <c:invertIfNegative val="0"/>
          <c:dLbls>
            <c:numFmt formatCode="#,##0" sourceLinked="0"/>
            <c:spPr>
              <a:noFill/>
              <a:ln>
                <a:noFill/>
              </a:ln>
              <a:effectLst/>
            </c:spPr>
            <c:txPr>
              <a:bodyPr/>
              <a:lstStyle/>
              <a:p>
                <a:pPr>
                  <a:defRPr sz="900" b="0"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Clear Sky
(High VPD)</c:v>
                </c:pt>
                <c:pt idx="1">
                  <c:v>Partly
Cloudy</c:v>
                </c:pt>
                <c:pt idx="2">
                  <c:v>Overcast
(Low VPD)</c:v>
                </c:pt>
                <c:pt idx="3">
                  <c:v>Clear Sky
(Mod VPD)</c:v>
                </c:pt>
                <c:pt idx="4">
                  <c:v>Mixed
Conditions</c:v>
                </c:pt>
              </c:strCache>
            </c:strRef>
          </c:cat>
          <c:val>
            <c:numRef>
              <c:f>Sheet1!$C$2:$C$6</c:f>
              <c:numCache>
                <c:formatCode>General</c:formatCode>
                <c:ptCount val="5"/>
                <c:pt idx="0">
                  <c:v>5.6</c:v>
                </c:pt>
                <c:pt idx="1">
                  <c:v>4.2</c:v>
                </c:pt>
                <c:pt idx="2">
                  <c:v>2.8</c:v>
                </c:pt>
                <c:pt idx="3">
                  <c:v>4.8</c:v>
                </c:pt>
                <c:pt idx="4">
                  <c:v>3.9</c:v>
                </c:pt>
              </c:numCache>
            </c:numRef>
          </c:val>
          <c:extLst>
            <c:ext xmlns:c16="http://schemas.microsoft.com/office/drawing/2014/chart" uri="{C3380CC4-5D6E-409C-BE32-E72D297353CC}">
              <c16:uniqueId val="{00000001-5406-4EF9-8197-207B0842C8E8}"/>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F8C8D"/>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F8C8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5412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7B2A5-0D73-04F1-9934-E1D189BB3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5F1F3-600E-8916-AC3B-5F4D57F097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0C352-ED7C-2610-3A38-CC37EF1B0F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BFEB41-549F-0A8D-E986-996F3415568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914411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70CD7-2EF7-5167-0BBB-37FDB3DBFA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A3CFE-25F4-DA9E-AD18-8D7F64B4ED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A8F2E-5FC0-FB19-5BF4-B8DD53759A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884E74-36FD-8088-8659-3F6F5D4A2C37}"/>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66009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30495-4338-18C8-783F-BF7F04F4E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43E76E-52A8-83A3-73EE-03BD8898D3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1139F-226D-18BA-4CE5-44824E193D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9E10EC-4918-5547-B1FF-D446C2DCF08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12656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6FCF5-EAC0-E3D8-991B-253091FC8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1D03B-EAB3-C837-E031-27396AFF3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DF0A15-26B9-6F1F-3F89-77AC4E6B06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6D72B5-EC0A-8058-A045-32D26662114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706309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B6BED-27FD-D73F-992A-4475D41D6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FAD7D-5BE7-563F-6D6E-3A94A1638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1BFC56-62F3-627D-16DC-CA8305B326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E6BA92-C88B-AB90-1F13-8A74CC7968D7}"/>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81603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53EDF-92EE-2F2B-B4CD-06E298417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D19901-5553-1BF8-098F-2C95083A8E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147BD8-25CF-891F-616C-1C26C2E6C4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4DBA55-EA5A-C99B-E92F-919345F47A4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28863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2ECC71"/>
          </a:solidFill>
          <a:ln/>
        </p:spPr>
        <p:txBody>
          <a:bodyPr/>
          <a:lstStyle/>
          <a:p>
            <a:endParaRPr lang="en-IN"/>
          </a:p>
        </p:txBody>
      </p:sp>
      <p:sp>
        <p:nvSpPr>
          <p:cNvPr id="3" name="Shape 1"/>
          <p:cNvSpPr/>
          <p:nvPr/>
        </p:nvSpPr>
        <p:spPr>
          <a:xfrm rot="10800000">
            <a:off x="2926080" y="0"/>
            <a:ext cx="640080" cy="5143500"/>
          </a:xfrm>
          <a:prstGeom prst="rtTriangle">
            <a:avLst/>
          </a:prstGeom>
          <a:solidFill>
            <a:srgbClr val="1A9E57"/>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457200" y="457200"/>
            <a:ext cx="1097280" cy="1097280"/>
          </a:xfrm>
          <a:prstGeom prst="rect">
            <a:avLst/>
          </a:prstGeom>
        </p:spPr>
      </p:pic>
      <p:sp>
        <p:nvSpPr>
          <p:cNvPr id="5" name="Text 2"/>
          <p:cNvSpPr/>
          <p:nvPr/>
        </p:nvSpPr>
        <p:spPr>
          <a:xfrm>
            <a:off x="182880" y="1737360"/>
            <a:ext cx="3017520" cy="457200"/>
          </a:xfrm>
          <a:prstGeom prst="rect">
            <a:avLst/>
          </a:prstGeom>
          <a:noFill/>
          <a:ln/>
        </p:spPr>
        <p:txBody>
          <a:bodyPr wrap="square" rtlCol="0" anchor="ctr"/>
          <a:lstStyle/>
          <a:p>
            <a:pPr marL="0" indent="0" algn="ctr">
              <a:buNone/>
            </a:pPr>
            <a:r>
              <a:rPr lang="en-US" sz="800" b="1" dirty="0">
                <a:solidFill>
                  <a:srgbClr val="FFFFFF"/>
                </a:solidFill>
              </a:rPr>
              <a:t>NARAYANA ENGINEERING COLLEGE (AUTONOMOUS), NELLORE</a:t>
            </a:r>
            <a:endParaRPr lang="en-US" sz="800" dirty="0"/>
          </a:p>
        </p:txBody>
      </p:sp>
      <p:sp>
        <p:nvSpPr>
          <p:cNvPr id="6" name="Text 3"/>
          <p:cNvSpPr/>
          <p:nvPr/>
        </p:nvSpPr>
        <p:spPr>
          <a:xfrm>
            <a:off x="182880" y="2194560"/>
            <a:ext cx="3017520" cy="365760"/>
          </a:xfrm>
          <a:prstGeom prst="rect">
            <a:avLst/>
          </a:prstGeom>
          <a:noFill/>
          <a:ln/>
        </p:spPr>
        <p:txBody>
          <a:bodyPr wrap="square" rtlCol="0" anchor="ctr"/>
          <a:lstStyle/>
          <a:p>
            <a:pPr marL="0" indent="0" algn="ctr">
              <a:buNone/>
            </a:pPr>
            <a:r>
              <a:rPr lang="en-US" sz="800" i="1" dirty="0">
                <a:solidFill>
                  <a:srgbClr val="D5F5E3"/>
                </a:solidFill>
              </a:rPr>
              <a:t>Dept. of Electronics &amp; Communication Engineering</a:t>
            </a:r>
            <a:endParaRPr lang="en-US" sz="800" dirty="0"/>
          </a:p>
        </p:txBody>
      </p:sp>
      <p:sp>
        <p:nvSpPr>
          <p:cNvPr id="7" name="Text 4"/>
          <p:cNvSpPr/>
          <p:nvPr/>
        </p:nvSpPr>
        <p:spPr>
          <a:xfrm>
            <a:off x="3749040" y="1216858"/>
            <a:ext cx="5212080" cy="685800"/>
          </a:xfrm>
          <a:prstGeom prst="rect">
            <a:avLst/>
          </a:prstGeom>
          <a:noFill/>
          <a:ln/>
        </p:spPr>
        <p:txBody>
          <a:bodyPr wrap="square" rtlCol="0" anchor="ctr"/>
          <a:lstStyle/>
          <a:p>
            <a:pPr marL="0" indent="0" algn="ctr">
              <a:buNone/>
            </a:pPr>
            <a:r>
              <a:rPr lang="en-US" sz="3200" b="1" dirty="0">
                <a:solidFill>
                  <a:srgbClr val="2C3E50"/>
                </a:solidFill>
              </a:rPr>
              <a:t>IoT-Based Predictive</a:t>
            </a:r>
            <a:endParaRPr lang="en-US" sz="3200" dirty="0"/>
          </a:p>
        </p:txBody>
      </p:sp>
      <p:sp>
        <p:nvSpPr>
          <p:cNvPr id="8" name="Text 5"/>
          <p:cNvSpPr/>
          <p:nvPr/>
        </p:nvSpPr>
        <p:spPr>
          <a:xfrm>
            <a:off x="3749040" y="1702192"/>
            <a:ext cx="5212080" cy="685800"/>
          </a:xfrm>
          <a:prstGeom prst="rect">
            <a:avLst/>
          </a:prstGeom>
          <a:noFill/>
          <a:ln/>
        </p:spPr>
        <p:txBody>
          <a:bodyPr wrap="square" rtlCol="0" anchor="ctr"/>
          <a:lstStyle/>
          <a:p>
            <a:pPr marL="0" indent="0" algn="ctr">
              <a:buNone/>
            </a:pPr>
            <a:r>
              <a:rPr lang="en-US" sz="3200" b="1" dirty="0">
                <a:solidFill>
                  <a:srgbClr val="2ECC71"/>
                </a:solidFill>
              </a:rPr>
              <a:t>Irrigation Scheduling</a:t>
            </a:r>
            <a:endParaRPr lang="en-US" sz="3200" dirty="0"/>
          </a:p>
        </p:txBody>
      </p:sp>
      <p:sp>
        <p:nvSpPr>
          <p:cNvPr id="9" name="Text 6"/>
          <p:cNvSpPr/>
          <p:nvPr/>
        </p:nvSpPr>
        <p:spPr>
          <a:xfrm>
            <a:off x="3749040" y="2257871"/>
            <a:ext cx="5212080" cy="502920"/>
          </a:xfrm>
          <a:prstGeom prst="rect">
            <a:avLst/>
          </a:prstGeom>
          <a:noFill/>
          <a:ln/>
        </p:spPr>
        <p:txBody>
          <a:bodyPr wrap="square" rtlCol="0" anchor="ctr"/>
          <a:lstStyle/>
          <a:p>
            <a:pPr marL="0" indent="0" algn="ctr">
              <a:buNone/>
            </a:pPr>
            <a:r>
              <a:rPr lang="en-US" sz="2000" i="1" dirty="0">
                <a:solidFill>
                  <a:srgbClr val="3498DB"/>
                </a:solidFill>
              </a:rPr>
              <a:t>Using VPD &amp; Solar Flux Fusion</a:t>
            </a:r>
            <a:endParaRPr lang="en-US" sz="2000" dirty="0"/>
          </a:p>
        </p:txBody>
      </p:sp>
      <p:sp>
        <p:nvSpPr>
          <p:cNvPr id="10" name="Shape 7"/>
          <p:cNvSpPr/>
          <p:nvPr/>
        </p:nvSpPr>
        <p:spPr>
          <a:xfrm>
            <a:off x="3749040" y="2792438"/>
            <a:ext cx="5029200" cy="45720"/>
          </a:xfrm>
          <a:prstGeom prst="rect">
            <a:avLst/>
          </a:prstGeom>
          <a:solidFill>
            <a:srgbClr val="ECF0F1"/>
          </a:solidFill>
          <a:ln/>
        </p:spPr>
        <p:txBody>
          <a:bodyPr/>
          <a:lstStyle/>
          <a:p>
            <a:endParaRPr lang="en-IN"/>
          </a:p>
        </p:txBody>
      </p:sp>
      <p:sp>
        <p:nvSpPr>
          <p:cNvPr id="11" name="Text 8"/>
          <p:cNvSpPr/>
          <p:nvPr/>
        </p:nvSpPr>
        <p:spPr>
          <a:xfrm>
            <a:off x="5717965" y="2851453"/>
            <a:ext cx="5029200" cy="320040"/>
          </a:xfrm>
          <a:prstGeom prst="rect">
            <a:avLst/>
          </a:prstGeom>
          <a:noFill/>
          <a:ln/>
        </p:spPr>
        <p:txBody>
          <a:bodyPr wrap="square" rtlCol="0" anchor="ctr"/>
          <a:lstStyle/>
          <a:p>
            <a:pPr marL="0" indent="0">
              <a:buNone/>
            </a:pPr>
            <a:r>
              <a:rPr lang="en-US" sz="1200" b="1" dirty="0">
                <a:solidFill>
                  <a:srgbClr val="00B050"/>
                </a:solidFill>
              </a:rPr>
              <a:t>Team Members</a:t>
            </a:r>
            <a:endParaRPr lang="en-US" sz="1200" dirty="0">
              <a:solidFill>
                <a:srgbClr val="00B050"/>
              </a:solidFill>
            </a:endParaRPr>
          </a:p>
        </p:txBody>
      </p:sp>
      <p:grpSp>
        <p:nvGrpSpPr>
          <p:cNvPr id="18" name="Group 17">
            <a:extLst>
              <a:ext uri="{FF2B5EF4-FFF2-40B4-BE49-F238E27FC236}">
                <a16:creationId xmlns:a16="http://schemas.microsoft.com/office/drawing/2014/main" id="{AC1E7B43-11CF-ED65-E211-3E6ABB55E037}"/>
              </a:ext>
            </a:extLst>
          </p:cNvPr>
          <p:cNvGrpSpPr/>
          <p:nvPr/>
        </p:nvGrpSpPr>
        <p:grpSpPr>
          <a:xfrm>
            <a:off x="3749040" y="4343400"/>
            <a:ext cx="5029200" cy="685800"/>
            <a:chOff x="3749040" y="4114800"/>
            <a:chExt cx="5029200" cy="685800"/>
          </a:xfrm>
        </p:grpSpPr>
        <p:sp>
          <p:nvSpPr>
            <p:cNvPr id="16" name="Shape 13"/>
            <p:cNvSpPr/>
            <p:nvPr/>
          </p:nvSpPr>
          <p:spPr>
            <a:xfrm>
              <a:off x="3749040" y="4114800"/>
              <a:ext cx="5029200" cy="685800"/>
            </a:xfrm>
            <a:prstGeom prst="rect">
              <a:avLst/>
            </a:prstGeom>
            <a:solidFill>
              <a:srgbClr val="D5F5E3"/>
            </a:solidFill>
            <a:ln/>
            <a:effectLst>
              <a:outerShdw blurRad="101600" dist="38100" dir="8100000" algn="bl" rotWithShape="0">
                <a:srgbClr val="000000">
                  <a:alpha val="10000"/>
                </a:srgbClr>
              </a:outerShdw>
            </a:effectLst>
          </p:spPr>
          <p:txBody>
            <a:bodyPr/>
            <a:lstStyle/>
            <a:p>
              <a:endParaRPr lang="en-IN"/>
            </a:p>
          </p:txBody>
        </p:sp>
        <p:sp>
          <p:nvSpPr>
            <p:cNvPr id="17" name="Text 14"/>
            <p:cNvSpPr/>
            <p:nvPr/>
          </p:nvSpPr>
          <p:spPr>
            <a:xfrm>
              <a:off x="3840480" y="4160520"/>
              <a:ext cx="4846320" cy="594360"/>
            </a:xfrm>
            <a:prstGeom prst="rect">
              <a:avLst/>
            </a:prstGeom>
            <a:noFill/>
            <a:ln/>
          </p:spPr>
          <p:txBody>
            <a:bodyPr wrap="square" rtlCol="0" anchor="ctr"/>
            <a:lstStyle/>
            <a:p>
              <a:pPr marL="0" indent="0">
                <a:buNone/>
              </a:pPr>
              <a:r>
                <a:rPr lang="en-US" sz="1100" b="1" dirty="0">
                  <a:solidFill>
                    <a:srgbClr val="1A9E57"/>
                  </a:solidFill>
                </a:rPr>
                <a:t>Guide: </a:t>
              </a:r>
              <a:r>
                <a:rPr lang="en-US" sz="1100" dirty="0">
                  <a:solidFill>
                    <a:srgbClr val="2C3E50"/>
                  </a:solidFill>
                </a:rPr>
                <a:t>Mr. V. Praveen Kumar, </a:t>
              </a:r>
              <a:r>
                <a:rPr lang="en-US" sz="1100" dirty="0" err="1">
                  <a:solidFill>
                    <a:srgbClr val="2C3E50"/>
                  </a:solidFill>
                </a:rPr>
                <a:t>M.Tech</a:t>
              </a:r>
              <a:r>
                <a:rPr lang="en-US" sz="1100" dirty="0">
                  <a:solidFill>
                    <a:srgbClr val="2C3E50"/>
                  </a:solidFill>
                </a:rPr>
                <a:t>., (Ph.D)</a:t>
              </a:r>
              <a:endParaRPr lang="en-US" sz="1100" dirty="0"/>
            </a:p>
            <a:p>
              <a:pPr marL="0" indent="0">
                <a:buNone/>
              </a:pPr>
              <a:r>
                <a:rPr lang="en-US" sz="1100" dirty="0">
                  <a:solidFill>
                    <a:srgbClr val="7F8C8D"/>
                  </a:solidFill>
                </a:rPr>
                <a:t>Assistant Professor, Dept. of ECE</a:t>
              </a:r>
              <a:endParaRPr lang="en-US" sz="1100" dirty="0"/>
            </a:p>
          </p:txBody>
        </p:sp>
      </p:grpSp>
      <p:pic>
        <p:nvPicPr>
          <p:cNvPr id="19" name="Picture 18">
            <a:extLst>
              <a:ext uri="{FF2B5EF4-FFF2-40B4-BE49-F238E27FC236}">
                <a16:creationId xmlns:a16="http://schemas.microsoft.com/office/drawing/2014/main" id="{CE68F35E-58C8-492C-0850-BBBB9A259F97}"/>
              </a:ext>
            </a:extLst>
          </p:cNvPr>
          <p:cNvPicPr>
            <a:picLocks noChangeAspect="1"/>
          </p:cNvPicPr>
          <p:nvPr/>
        </p:nvPicPr>
        <p:blipFill>
          <a:blip r:embed="rId4"/>
          <a:stretch>
            <a:fillRect/>
          </a:stretch>
        </p:blipFill>
        <p:spPr>
          <a:xfrm>
            <a:off x="4310036" y="83601"/>
            <a:ext cx="4056714" cy="674241"/>
          </a:xfrm>
          <a:prstGeom prst="rect">
            <a:avLst/>
          </a:prstGeom>
        </p:spPr>
      </p:pic>
      <p:sp>
        <p:nvSpPr>
          <p:cNvPr id="20" name="TextBox 19">
            <a:extLst>
              <a:ext uri="{FF2B5EF4-FFF2-40B4-BE49-F238E27FC236}">
                <a16:creationId xmlns:a16="http://schemas.microsoft.com/office/drawing/2014/main" id="{7D6077C3-C4FE-7C54-32E6-3624310DD71D}"/>
              </a:ext>
            </a:extLst>
          </p:cNvPr>
          <p:cNvSpPr txBox="1"/>
          <p:nvPr/>
        </p:nvSpPr>
        <p:spPr>
          <a:xfrm>
            <a:off x="3212755" y="649322"/>
            <a:ext cx="6270591" cy="461665"/>
          </a:xfrm>
          <a:prstGeom prst="rect">
            <a:avLst/>
          </a:prstGeom>
          <a:noFill/>
        </p:spPr>
        <p:txBody>
          <a:bodyPr wrap="square">
            <a:spAutoFit/>
          </a:bodyPr>
          <a:lstStyle/>
          <a:p>
            <a:pPr algn="ctr">
              <a:buNone/>
            </a:pPr>
            <a:r>
              <a:rPr lang="en-US" sz="1200" b="1" dirty="0">
                <a:solidFill>
                  <a:srgbClr val="33CC33"/>
                </a:solidFill>
                <a:effectLst/>
                <a:latin typeface="Times New Roman" panose="02020603050405020304" pitchFamily="18" charset="0"/>
                <a:ea typeface="Times New Roman" panose="02020603050405020304" pitchFamily="18" charset="0"/>
              </a:rPr>
              <a:t>DEPARTMENT OF</a:t>
            </a:r>
            <a:endParaRPr lang="en-IN" sz="1200" dirty="0">
              <a:effectLst/>
              <a:latin typeface="Times New Roman" panose="02020603050405020304" pitchFamily="18" charset="0"/>
              <a:ea typeface="Times New Roman" panose="02020603050405020304" pitchFamily="18" charset="0"/>
            </a:endParaRPr>
          </a:p>
          <a:p>
            <a:pPr algn="ctr">
              <a:buNone/>
            </a:pPr>
            <a:r>
              <a:rPr lang="en-US" sz="1200" b="1" dirty="0">
                <a:solidFill>
                  <a:srgbClr val="BF4E14"/>
                </a:solidFill>
                <a:effectLst/>
                <a:latin typeface="Times New Roman" panose="02020603050405020304" pitchFamily="18" charset="0"/>
                <a:ea typeface="Times New Roman" panose="02020603050405020304" pitchFamily="18" charset="0"/>
              </a:rPr>
              <a:t>ELECTRONICS AND COMMUNICATION ENGINEERING </a:t>
            </a:r>
            <a:endParaRPr lang="en-IN" sz="1200" dirty="0">
              <a:effectLst/>
              <a:latin typeface="Times New Roman" panose="02020603050405020304" pitchFamily="18" charset="0"/>
              <a:ea typeface="Times New Roman" panose="02020603050405020304" pitchFamily="18" charset="0"/>
            </a:endParaRPr>
          </a:p>
        </p:txBody>
      </p:sp>
      <p:grpSp>
        <p:nvGrpSpPr>
          <p:cNvPr id="21" name="Group 20">
            <a:extLst>
              <a:ext uri="{FF2B5EF4-FFF2-40B4-BE49-F238E27FC236}">
                <a16:creationId xmlns:a16="http://schemas.microsoft.com/office/drawing/2014/main" id="{48F6F8AB-1E41-60B4-1199-DA0A7F7DE499}"/>
              </a:ext>
            </a:extLst>
          </p:cNvPr>
          <p:cNvGrpSpPr/>
          <p:nvPr/>
        </p:nvGrpSpPr>
        <p:grpSpPr>
          <a:xfrm>
            <a:off x="4572000" y="3203144"/>
            <a:ext cx="5137394" cy="1021462"/>
            <a:chOff x="35725" y="2611719"/>
            <a:chExt cx="5137394" cy="1021462"/>
          </a:xfrm>
        </p:grpSpPr>
        <p:sp>
          <p:nvSpPr>
            <p:cNvPr id="22" name="TextBox 21">
              <a:extLst>
                <a:ext uri="{FF2B5EF4-FFF2-40B4-BE49-F238E27FC236}">
                  <a16:creationId xmlns:a16="http://schemas.microsoft.com/office/drawing/2014/main" id="{4A6BDC32-BB33-EF07-70BE-CF52D1C688A4}"/>
                </a:ext>
              </a:extLst>
            </p:cNvPr>
            <p:cNvSpPr txBox="1"/>
            <p:nvPr/>
          </p:nvSpPr>
          <p:spPr>
            <a:xfrm>
              <a:off x="35725" y="2611719"/>
              <a:ext cx="2953658" cy="1015663"/>
            </a:xfrm>
            <a:prstGeom prst="rect">
              <a:avLst/>
            </a:prstGeom>
            <a:noFill/>
          </p:spPr>
          <p:txBody>
            <a:bodyPr wrap="square" rtlCol="0">
              <a:spAutoFit/>
            </a:bodyPr>
            <a:lstStyle/>
            <a:p>
              <a:pPr fontAlgn="t"/>
              <a:r>
                <a:rPr lang="en-US" sz="1200" b="1" dirty="0" err="1">
                  <a:solidFill>
                    <a:srgbClr val="00B050"/>
                  </a:solidFill>
                  <a:latin typeface="Times New Roman" panose="02020603050405020304" pitchFamily="18" charset="0"/>
                  <a:cs typeface="Times New Roman" panose="02020603050405020304" pitchFamily="18" charset="0"/>
                </a:rPr>
                <a:t>P.Hari</a:t>
              </a:r>
              <a:r>
                <a:rPr lang="en-US" sz="1200" b="1" dirty="0">
                  <a:solidFill>
                    <a:srgbClr val="00B050"/>
                  </a:solidFill>
                  <a:latin typeface="Times New Roman" panose="02020603050405020304" pitchFamily="18" charset="0"/>
                  <a:cs typeface="Times New Roman" panose="02020603050405020304" pitchFamily="18" charset="0"/>
                </a:rPr>
                <a:t> Chandana</a:t>
              </a:r>
              <a:endParaRPr lang="en-IN" sz="1200" dirty="0">
                <a:solidFill>
                  <a:srgbClr val="00B050"/>
                </a:solidFill>
                <a:latin typeface="Times New Roman" panose="02020603050405020304" pitchFamily="18" charset="0"/>
                <a:cs typeface="Times New Roman" panose="02020603050405020304" pitchFamily="18" charset="0"/>
              </a:endParaRPr>
            </a:p>
            <a:p>
              <a:r>
                <a:rPr lang="en-US" sz="1200" b="1" dirty="0" err="1">
                  <a:solidFill>
                    <a:srgbClr val="00B050"/>
                  </a:solidFill>
                  <a:latin typeface="Times New Roman" panose="02020603050405020304" pitchFamily="18" charset="0"/>
                  <a:cs typeface="Times New Roman" panose="02020603050405020304" pitchFamily="18" charset="0"/>
                </a:rPr>
                <a:t>S.Sri</a:t>
              </a:r>
              <a:r>
                <a:rPr lang="en-US" sz="1200" b="1" dirty="0">
                  <a:solidFill>
                    <a:srgbClr val="00B050"/>
                  </a:solidFill>
                  <a:latin typeface="Times New Roman" panose="02020603050405020304" pitchFamily="18" charset="0"/>
                  <a:cs typeface="Times New Roman" panose="02020603050405020304" pitchFamily="18" charset="0"/>
                </a:rPr>
                <a:t> Lakshmi</a:t>
              </a:r>
            </a:p>
            <a:p>
              <a:r>
                <a:rPr lang="en-US" sz="1200" b="1" dirty="0" err="1">
                  <a:solidFill>
                    <a:srgbClr val="00B050"/>
                  </a:solidFill>
                  <a:latin typeface="Times New Roman" panose="02020603050405020304" pitchFamily="18" charset="0"/>
                  <a:cs typeface="Times New Roman" panose="02020603050405020304" pitchFamily="18" charset="0"/>
                </a:rPr>
                <a:t>Md.Eram</a:t>
              </a:r>
              <a:r>
                <a:rPr lang="en-US" sz="1200" b="1" dirty="0">
                  <a:solidFill>
                    <a:srgbClr val="00B050"/>
                  </a:solidFill>
                  <a:latin typeface="Times New Roman" panose="02020603050405020304" pitchFamily="18" charset="0"/>
                  <a:cs typeface="Times New Roman" panose="02020603050405020304" pitchFamily="18" charset="0"/>
                </a:rPr>
                <a:t> Zulekha</a:t>
              </a:r>
            </a:p>
            <a:p>
              <a:r>
                <a:rPr lang="en-US" sz="1200" b="1" dirty="0" err="1">
                  <a:solidFill>
                    <a:srgbClr val="00B050"/>
                  </a:solidFill>
                  <a:latin typeface="Times New Roman" panose="02020603050405020304" pitchFamily="18" charset="0"/>
                  <a:cs typeface="Times New Roman" panose="02020603050405020304" pitchFamily="18" charset="0"/>
                </a:rPr>
                <a:t>Sk.Afreen</a:t>
              </a:r>
              <a:endParaRPr lang="en-US" sz="1200" b="1" dirty="0">
                <a:solidFill>
                  <a:srgbClr val="00B050"/>
                </a:solidFill>
                <a:latin typeface="Times New Roman" panose="02020603050405020304" pitchFamily="18" charset="0"/>
                <a:cs typeface="Times New Roman" panose="02020603050405020304" pitchFamily="18" charset="0"/>
              </a:endParaRPr>
            </a:p>
            <a:p>
              <a:endParaRPr lang="en-IN" sz="1200" b="1" dirty="0">
                <a:solidFill>
                  <a:srgbClr val="00B050"/>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D52C39F5-1309-08FD-BF39-C52BFFC502D9}"/>
                </a:ext>
              </a:extLst>
            </p:cNvPr>
            <p:cNvSpPr txBox="1"/>
            <p:nvPr/>
          </p:nvSpPr>
          <p:spPr>
            <a:xfrm>
              <a:off x="1783080" y="2611719"/>
              <a:ext cx="2953658" cy="1015663"/>
            </a:xfrm>
            <a:prstGeom prst="rect">
              <a:avLst/>
            </a:prstGeom>
            <a:noFill/>
          </p:spPr>
          <p:txBody>
            <a:bodyPr wrap="square" rtlCol="0">
              <a:spAutoFit/>
            </a:bodyPr>
            <a:lstStyle/>
            <a:p>
              <a:pPr fontAlgn="t"/>
              <a:r>
                <a:rPr lang="en-US" sz="1200" dirty="0">
                  <a:solidFill>
                    <a:srgbClr val="00B050"/>
                  </a:solidFill>
                  <a:latin typeface="Times New Roman" panose="02020603050405020304" pitchFamily="18" charset="0"/>
                  <a:cs typeface="Times New Roman" panose="02020603050405020304" pitchFamily="18" charset="0"/>
                </a:rPr>
                <a:t>-</a:t>
              </a:r>
            </a:p>
            <a:p>
              <a:pPr fontAlgn="t"/>
              <a:r>
                <a:rPr lang="en-US" sz="1200" dirty="0">
                  <a:solidFill>
                    <a:srgbClr val="00B050"/>
                  </a:solidFill>
                  <a:latin typeface="Times New Roman" panose="02020603050405020304" pitchFamily="18" charset="0"/>
                  <a:cs typeface="Times New Roman" panose="02020603050405020304" pitchFamily="18" charset="0"/>
                </a:rPr>
                <a:t>-</a:t>
              </a:r>
            </a:p>
            <a:p>
              <a:pPr fontAlgn="t"/>
              <a:r>
                <a:rPr lang="en-US" sz="1200" dirty="0">
                  <a:solidFill>
                    <a:srgbClr val="00B050"/>
                  </a:solidFill>
                  <a:latin typeface="Times New Roman" panose="02020603050405020304" pitchFamily="18" charset="0"/>
                  <a:cs typeface="Times New Roman" panose="02020603050405020304" pitchFamily="18" charset="0"/>
                </a:rPr>
                <a:t>-</a:t>
              </a:r>
            </a:p>
            <a:p>
              <a:pPr fontAlgn="t"/>
              <a:r>
                <a:rPr lang="en-US" sz="1200" dirty="0">
                  <a:solidFill>
                    <a:srgbClr val="00B050"/>
                  </a:solidFill>
                  <a:latin typeface="Times New Roman" panose="02020603050405020304" pitchFamily="18" charset="0"/>
                  <a:cs typeface="Times New Roman" panose="02020603050405020304" pitchFamily="18" charset="0"/>
                </a:rPr>
                <a:t>-</a:t>
              </a:r>
              <a:endParaRPr lang="en-IN" sz="1200" dirty="0">
                <a:solidFill>
                  <a:srgbClr val="00B050"/>
                </a:solidFill>
                <a:latin typeface="Times New Roman" panose="02020603050405020304" pitchFamily="18" charset="0"/>
                <a:cs typeface="Times New Roman" panose="02020603050405020304" pitchFamily="18" charset="0"/>
              </a:endParaRPr>
            </a:p>
            <a:p>
              <a:endParaRPr lang="en-IN" sz="1200" b="1" dirty="0">
                <a:solidFill>
                  <a:srgbClr val="00B050"/>
                </a:solidFill>
              </a:endParaRPr>
            </a:p>
          </p:txBody>
        </p:sp>
        <p:sp>
          <p:nvSpPr>
            <p:cNvPr id="24" name="TextBox 23">
              <a:extLst>
                <a:ext uri="{FF2B5EF4-FFF2-40B4-BE49-F238E27FC236}">
                  <a16:creationId xmlns:a16="http://schemas.microsoft.com/office/drawing/2014/main" id="{4EFAFFC9-CF06-546D-78A7-0873900B8093}"/>
                </a:ext>
              </a:extLst>
            </p:cNvPr>
            <p:cNvSpPr txBox="1"/>
            <p:nvPr/>
          </p:nvSpPr>
          <p:spPr>
            <a:xfrm>
              <a:off x="2219461" y="2617518"/>
              <a:ext cx="2953658" cy="1015663"/>
            </a:xfrm>
            <a:prstGeom prst="rect">
              <a:avLst/>
            </a:prstGeom>
            <a:noFill/>
          </p:spPr>
          <p:txBody>
            <a:bodyPr wrap="square" rtlCol="0">
              <a:spAutoFit/>
            </a:bodyPr>
            <a:lstStyle/>
            <a:p>
              <a:pPr fontAlgn="t"/>
              <a:r>
                <a:rPr lang="en-US" sz="1200" b="1" dirty="0">
                  <a:solidFill>
                    <a:srgbClr val="00B050"/>
                  </a:solidFill>
                  <a:latin typeface="Times New Roman" panose="02020603050405020304" pitchFamily="18" charset="0"/>
                  <a:cs typeface="Times New Roman" panose="02020603050405020304" pitchFamily="18" charset="0"/>
                </a:rPr>
                <a:t>22711A0446</a:t>
              </a:r>
            </a:p>
            <a:p>
              <a:pPr fontAlgn="t"/>
              <a:r>
                <a:rPr lang="en-US" sz="1200" b="1" dirty="0">
                  <a:solidFill>
                    <a:srgbClr val="00B050"/>
                  </a:solidFill>
                  <a:latin typeface="Times New Roman" panose="02020603050405020304" pitchFamily="18" charset="0"/>
                  <a:cs typeface="Times New Roman" panose="02020603050405020304" pitchFamily="18" charset="0"/>
                </a:rPr>
                <a:t>22711A0454</a:t>
              </a:r>
            </a:p>
            <a:p>
              <a:pPr fontAlgn="t"/>
              <a:r>
                <a:rPr lang="en-US" sz="1200" b="1" dirty="0">
                  <a:solidFill>
                    <a:srgbClr val="00B050"/>
                  </a:solidFill>
                  <a:latin typeface="Times New Roman" panose="02020603050405020304" pitchFamily="18" charset="0"/>
                  <a:cs typeface="Times New Roman" panose="02020603050405020304" pitchFamily="18" charset="0"/>
                </a:rPr>
                <a:t>22711A0435</a:t>
              </a:r>
            </a:p>
            <a:p>
              <a:pPr fontAlgn="t"/>
              <a:r>
                <a:rPr lang="en-US" sz="1200" b="1" dirty="0">
                  <a:solidFill>
                    <a:srgbClr val="00B050"/>
                  </a:solidFill>
                  <a:latin typeface="Times New Roman" panose="02020603050405020304" pitchFamily="18" charset="0"/>
                  <a:cs typeface="Times New Roman" panose="02020603050405020304" pitchFamily="18" charset="0"/>
                </a:rPr>
                <a:t>23715A0404</a:t>
              </a:r>
            </a:p>
            <a:p>
              <a:pPr fontAlgn="t"/>
              <a:endParaRPr lang="en-US" sz="1200" b="1" dirty="0">
                <a:solidFill>
                  <a:srgbClr val="00B050"/>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FFE"/>
        </a:solidFill>
        <a:effectLst/>
      </p:bgPr>
    </p:bg>
    <p:spTree>
      <p:nvGrpSpPr>
        <p:cNvPr id="1" name="">
          <a:extLst>
            <a:ext uri="{FF2B5EF4-FFF2-40B4-BE49-F238E27FC236}">
              <a16:creationId xmlns:a16="http://schemas.microsoft.com/office/drawing/2014/main" id="{8596D4CD-A895-A39A-7F4C-ADC0AEFA751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175A4CE-DB90-914C-104C-2FBCF20A5A58}"/>
              </a:ext>
            </a:extLst>
          </p:cNvPr>
          <p:cNvSpPr/>
          <p:nvPr/>
        </p:nvSpPr>
        <p:spPr>
          <a:xfrm>
            <a:off x="0" y="0"/>
            <a:ext cx="9144000" cy="822960"/>
          </a:xfrm>
          <a:prstGeom prst="rect">
            <a:avLst/>
          </a:prstGeom>
          <a:solidFill>
            <a:srgbClr val="2ECC71"/>
          </a:solidFill>
          <a:ln/>
        </p:spPr>
        <p:txBody>
          <a:bodyPr/>
          <a:lstStyle/>
          <a:p>
            <a:endParaRPr lang="en-IN"/>
          </a:p>
        </p:txBody>
      </p:sp>
      <p:sp>
        <p:nvSpPr>
          <p:cNvPr id="3" name="Text 1">
            <a:extLst>
              <a:ext uri="{FF2B5EF4-FFF2-40B4-BE49-F238E27FC236}">
                <a16:creationId xmlns:a16="http://schemas.microsoft.com/office/drawing/2014/main" id="{1A0B3187-9893-3CC9-7644-C7AD4A55E446}"/>
              </a:ext>
            </a:extLst>
          </p:cNvPr>
          <p:cNvSpPr/>
          <p:nvPr/>
        </p:nvSpPr>
        <p:spPr>
          <a:xfrm>
            <a:off x="365760" y="109728"/>
            <a:ext cx="8412480" cy="603504"/>
          </a:xfrm>
          <a:prstGeom prst="rect">
            <a:avLst/>
          </a:prstGeom>
          <a:noFill/>
          <a:ln/>
        </p:spPr>
        <p:txBody>
          <a:bodyPr wrap="square" rtlCol="0" anchor="ctr"/>
          <a:lstStyle/>
          <a:p>
            <a:pPr marL="0" indent="0">
              <a:buNone/>
            </a:pPr>
            <a:r>
              <a:rPr lang="en-US" sz="2200" b="1" dirty="0">
                <a:solidFill>
                  <a:srgbClr val="FFFFFF"/>
                </a:solidFill>
              </a:rPr>
              <a:t>CONTENTS</a:t>
            </a:r>
            <a:endParaRPr lang="en-US" sz="2200" dirty="0"/>
          </a:p>
        </p:txBody>
      </p:sp>
      <p:grpSp>
        <p:nvGrpSpPr>
          <p:cNvPr id="25" name="Group 24">
            <a:extLst>
              <a:ext uri="{FF2B5EF4-FFF2-40B4-BE49-F238E27FC236}">
                <a16:creationId xmlns:a16="http://schemas.microsoft.com/office/drawing/2014/main" id="{95AA049E-BD43-A467-DA76-5FD02D71116F}"/>
              </a:ext>
            </a:extLst>
          </p:cNvPr>
          <p:cNvGrpSpPr/>
          <p:nvPr/>
        </p:nvGrpSpPr>
        <p:grpSpPr>
          <a:xfrm>
            <a:off x="182880" y="1120140"/>
            <a:ext cx="8595360" cy="3575304"/>
            <a:chOff x="274320" y="914400"/>
            <a:chExt cx="8595360" cy="3575304"/>
          </a:xfrm>
        </p:grpSpPr>
        <p:sp>
          <p:nvSpPr>
            <p:cNvPr id="4" name="Shape 2">
              <a:extLst>
                <a:ext uri="{FF2B5EF4-FFF2-40B4-BE49-F238E27FC236}">
                  <a16:creationId xmlns:a16="http://schemas.microsoft.com/office/drawing/2014/main" id="{EE99EA3F-D8D3-F4F7-BED8-5E0272A069A7}"/>
                </a:ext>
              </a:extLst>
            </p:cNvPr>
            <p:cNvSpPr/>
            <p:nvPr/>
          </p:nvSpPr>
          <p:spPr>
            <a:xfrm>
              <a:off x="274320" y="1181100"/>
              <a:ext cx="8595360" cy="3308604"/>
            </a:xfrm>
            <a:prstGeom prst="rect">
              <a:avLst/>
            </a:prstGeom>
            <a:solidFill>
              <a:srgbClr val="FFFFFF"/>
            </a:solidFill>
            <a:ln/>
            <a:effectLst>
              <a:outerShdw blurRad="101600" dist="38100" dir="8100000" algn="bl" rotWithShape="0">
                <a:srgbClr val="000000">
                  <a:alpha val="10000"/>
                </a:srgbClr>
              </a:outerShdw>
            </a:effectLst>
          </p:spPr>
          <p:txBody>
            <a:bodyPr/>
            <a:lstStyle/>
            <a:p>
              <a:pPr marL="285750" indent="-285750">
                <a:buFont typeface="Arial" panose="020B0604020202020204" pitchFamily="34" charset="0"/>
                <a:buChar char="•"/>
              </a:pPr>
              <a:r>
                <a:rPr lang="en-US" sz="1400" dirty="0"/>
                <a:t>ABSTRACT</a:t>
              </a:r>
            </a:p>
            <a:p>
              <a:pPr marL="285750" indent="-285750">
                <a:buFont typeface="Arial" panose="020B0604020202020204" pitchFamily="34" charset="0"/>
                <a:buChar char="•"/>
              </a:pPr>
              <a:r>
                <a:rPr lang="en-US" sz="1400" dirty="0"/>
                <a:t>INTRODUCTION AND PROBLEM STATEMENT</a:t>
              </a:r>
            </a:p>
            <a:p>
              <a:pPr marL="285750" indent="-285750">
                <a:buFont typeface="Arial" panose="020B0604020202020204" pitchFamily="34" charset="0"/>
                <a:buChar char="•"/>
              </a:pPr>
              <a:r>
                <a:rPr lang="en-US" sz="1400" dirty="0"/>
                <a:t>OBJECTIVE</a:t>
              </a:r>
            </a:p>
            <a:p>
              <a:pPr marL="285750" indent="-285750">
                <a:buFont typeface="Arial" panose="020B0604020202020204" pitchFamily="34" charset="0"/>
                <a:buChar char="•"/>
              </a:pPr>
              <a:r>
                <a:rPr lang="en-US" sz="1400" dirty="0"/>
                <a:t>SYSTEM WORKING</a:t>
              </a:r>
            </a:p>
            <a:p>
              <a:pPr marL="285750" indent="-285750">
                <a:buFont typeface="Arial" panose="020B0604020202020204" pitchFamily="34" charset="0"/>
                <a:buChar char="•"/>
              </a:pPr>
              <a:r>
                <a:rPr lang="en-US" sz="1400" dirty="0"/>
                <a:t>HARDWARE COMPONENTS </a:t>
              </a:r>
            </a:p>
            <a:p>
              <a:pPr marL="285750" indent="-285750">
                <a:buFont typeface="Arial" panose="020B0604020202020204" pitchFamily="34" charset="0"/>
                <a:buChar char="•"/>
              </a:pPr>
              <a:r>
                <a:rPr lang="en-US" sz="1400" dirty="0"/>
                <a:t>PROJECT SETUP AND WEB DASHBOARD</a:t>
              </a:r>
            </a:p>
            <a:p>
              <a:pPr marL="285750" indent="-285750">
                <a:buFont typeface="Arial" panose="020B0604020202020204" pitchFamily="34" charset="0"/>
                <a:buChar char="•"/>
              </a:pPr>
              <a:r>
                <a:rPr lang="en-US" sz="1400" dirty="0"/>
                <a:t>VPD CONCEPT</a:t>
              </a:r>
            </a:p>
            <a:p>
              <a:pPr marL="285750" indent="-285750">
                <a:buFont typeface="Arial" panose="020B0604020202020204" pitchFamily="34" charset="0"/>
                <a:buChar char="•"/>
              </a:pPr>
              <a:r>
                <a:rPr lang="en-US" sz="1400" dirty="0"/>
                <a:t>IOT DASHBOARD</a:t>
              </a:r>
            </a:p>
            <a:p>
              <a:pPr marL="285750" indent="-285750">
                <a:buFont typeface="Arial" panose="020B0604020202020204" pitchFamily="34" charset="0"/>
                <a:buChar char="•"/>
              </a:pPr>
              <a:r>
                <a:rPr lang="en-US" sz="1400" dirty="0"/>
                <a:t>RESULT AND ANALYSIS</a:t>
              </a:r>
            </a:p>
            <a:p>
              <a:pPr marL="285750" indent="-285750">
                <a:buFont typeface="Arial" panose="020B0604020202020204" pitchFamily="34" charset="0"/>
                <a:buChar char="•"/>
              </a:pPr>
              <a:r>
                <a:rPr lang="en-US" sz="1400" dirty="0"/>
                <a:t>ADVANTAGES AND DISADVANTAGES</a:t>
              </a:r>
            </a:p>
            <a:p>
              <a:pPr marL="285750" indent="-285750">
                <a:buFont typeface="Arial" panose="020B0604020202020204" pitchFamily="34" charset="0"/>
                <a:buChar char="•"/>
              </a:pPr>
              <a:r>
                <a:rPr lang="en-US" sz="1400" dirty="0"/>
                <a:t>APPLICATIONS</a:t>
              </a:r>
            </a:p>
            <a:p>
              <a:pPr marL="285750" indent="-285750">
                <a:buFont typeface="Arial" panose="020B0604020202020204" pitchFamily="34" charset="0"/>
                <a:buChar char="•"/>
              </a:pPr>
              <a:r>
                <a:rPr lang="en-US" sz="1400" dirty="0"/>
                <a:t>FURTURE SCOPE AND CONCLUSION</a:t>
              </a:r>
            </a:p>
            <a:p>
              <a:pPr marL="285750" indent="-285750">
                <a:buFont typeface="Arial" panose="020B0604020202020204" pitchFamily="34" charset="0"/>
                <a:buChar char="•"/>
              </a:pPr>
              <a:r>
                <a:rPr lang="en-US" sz="1400" dirty="0"/>
                <a:t>REFERENCES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IN" dirty="0"/>
            </a:p>
          </p:txBody>
        </p:sp>
        <p:sp>
          <p:nvSpPr>
            <p:cNvPr id="5" name="Shape 3">
              <a:extLst>
                <a:ext uri="{FF2B5EF4-FFF2-40B4-BE49-F238E27FC236}">
                  <a16:creationId xmlns:a16="http://schemas.microsoft.com/office/drawing/2014/main" id="{45AFDB92-091A-4747-64A0-492357D8429C}"/>
                </a:ext>
              </a:extLst>
            </p:cNvPr>
            <p:cNvSpPr/>
            <p:nvPr/>
          </p:nvSpPr>
          <p:spPr>
            <a:xfrm>
              <a:off x="274320" y="914400"/>
              <a:ext cx="91440" cy="3575304"/>
            </a:xfrm>
            <a:prstGeom prst="rect">
              <a:avLst/>
            </a:prstGeom>
            <a:solidFill>
              <a:srgbClr val="2ECC71"/>
            </a:solidFill>
            <a:ln/>
          </p:spPr>
          <p:txBody>
            <a:bodyPr/>
            <a:lstStyle/>
            <a:p>
              <a:endParaRPr lang="en-IN"/>
            </a:p>
          </p:txBody>
        </p:sp>
        <p:sp>
          <p:nvSpPr>
            <p:cNvPr id="6" name="Text 4">
              <a:extLst>
                <a:ext uri="{FF2B5EF4-FFF2-40B4-BE49-F238E27FC236}">
                  <a16:creationId xmlns:a16="http://schemas.microsoft.com/office/drawing/2014/main" id="{95867F01-8622-6ED7-C7D8-E7B6CE08F1E2}"/>
                </a:ext>
              </a:extLst>
            </p:cNvPr>
            <p:cNvSpPr/>
            <p:nvPr/>
          </p:nvSpPr>
          <p:spPr>
            <a:xfrm>
              <a:off x="502920" y="987552"/>
              <a:ext cx="8229600" cy="320040"/>
            </a:xfrm>
            <a:prstGeom prst="rect">
              <a:avLst/>
            </a:prstGeom>
            <a:noFill/>
            <a:ln/>
          </p:spPr>
          <p:txBody>
            <a:bodyPr wrap="square" rtlCol="0" anchor="ctr"/>
            <a:lstStyle/>
            <a:p>
              <a:pPr marL="0" indent="0">
                <a:buNone/>
              </a:pPr>
              <a:endParaRPr lang="en-US" sz="1400" dirty="0"/>
            </a:p>
          </p:txBody>
        </p:sp>
      </p:grpSp>
      <p:sp>
        <p:nvSpPr>
          <p:cNvPr id="21" name="Shape 19">
            <a:extLst>
              <a:ext uri="{FF2B5EF4-FFF2-40B4-BE49-F238E27FC236}">
                <a16:creationId xmlns:a16="http://schemas.microsoft.com/office/drawing/2014/main" id="{5E779111-102B-AA79-CEB2-4C4F001AFC40}"/>
              </a:ext>
            </a:extLst>
          </p:cNvPr>
          <p:cNvSpPr/>
          <p:nvPr/>
        </p:nvSpPr>
        <p:spPr>
          <a:xfrm>
            <a:off x="0" y="4892040"/>
            <a:ext cx="9144000" cy="256032"/>
          </a:xfrm>
          <a:prstGeom prst="rect">
            <a:avLst/>
          </a:prstGeom>
          <a:solidFill>
            <a:srgbClr val="1A9E57"/>
          </a:solidFill>
          <a:ln/>
        </p:spPr>
        <p:txBody>
          <a:bodyPr/>
          <a:lstStyle/>
          <a:p>
            <a:endParaRPr lang="en-IN"/>
          </a:p>
        </p:txBody>
      </p:sp>
      <p:sp>
        <p:nvSpPr>
          <p:cNvPr id="22" name="Text 20">
            <a:extLst>
              <a:ext uri="{FF2B5EF4-FFF2-40B4-BE49-F238E27FC236}">
                <a16:creationId xmlns:a16="http://schemas.microsoft.com/office/drawing/2014/main" id="{C8376475-4635-7839-0C16-3CC0A555119F}"/>
              </a:ext>
            </a:extLst>
          </p:cNvPr>
          <p:cNvSpPr/>
          <p:nvPr/>
        </p:nvSpPr>
        <p:spPr>
          <a:xfrm>
            <a:off x="0" y="4910328"/>
            <a:ext cx="9144000" cy="228600"/>
          </a:xfrm>
          <a:prstGeom prst="rect">
            <a:avLst/>
          </a:prstGeom>
          <a:noFill/>
          <a:ln/>
        </p:spPr>
        <p:txBody>
          <a:bodyPr wrap="square" rtlCol="0" anchor="ctr"/>
          <a:lstStyle/>
          <a:p>
            <a:pPr marL="0" indent="0" algn="ctr">
              <a:buNone/>
            </a:pPr>
            <a:r>
              <a:rPr lang="en-US" sz="1000" b="1" dirty="0">
                <a:solidFill>
                  <a:srgbClr val="FFFFFF"/>
                </a:solidFill>
              </a:rPr>
              <a:t>Smart Irrigation — Smarter Farming — Sustainable Future  |  Narayana Engineering College, Nellore</a:t>
            </a:r>
            <a:endParaRPr lang="en-US" sz="1000" dirty="0"/>
          </a:p>
        </p:txBody>
      </p:sp>
      <p:sp>
        <p:nvSpPr>
          <p:cNvPr id="26" name="Text 5">
            <a:extLst>
              <a:ext uri="{FF2B5EF4-FFF2-40B4-BE49-F238E27FC236}">
                <a16:creationId xmlns:a16="http://schemas.microsoft.com/office/drawing/2014/main" id="{50474F5E-5667-D764-9FA2-51E34EB7D30D}"/>
              </a:ext>
            </a:extLst>
          </p:cNvPr>
          <p:cNvSpPr/>
          <p:nvPr/>
        </p:nvSpPr>
        <p:spPr>
          <a:xfrm>
            <a:off x="411480" y="2435118"/>
            <a:ext cx="8229600" cy="1097280"/>
          </a:xfrm>
          <a:prstGeom prst="rect">
            <a:avLst/>
          </a:prstGeom>
          <a:noFill/>
          <a:ln/>
        </p:spPr>
        <p:txBody>
          <a:bodyPr wrap="square" rtlCol="0" anchor="ctr"/>
          <a:lstStyle/>
          <a:p>
            <a:pPr algn="just">
              <a:lnSpc>
                <a:spcPct val="150000"/>
              </a:lnSpc>
            </a:pPr>
            <a:endParaRPr lang="en-US" sz="1200" dirty="0"/>
          </a:p>
        </p:txBody>
      </p:sp>
    </p:spTree>
    <p:extLst>
      <p:ext uri="{BB962C8B-B14F-4D97-AF65-F5344CB8AC3E}">
        <p14:creationId xmlns:p14="http://schemas.microsoft.com/office/powerpoint/2010/main" val="2347047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FFE"/>
        </a:solidFill>
        <a:effectLst/>
      </p:bgPr>
    </p:bg>
    <p:spTree>
      <p:nvGrpSpPr>
        <p:cNvPr id="1" name="">
          <a:extLst>
            <a:ext uri="{FF2B5EF4-FFF2-40B4-BE49-F238E27FC236}">
              <a16:creationId xmlns:a16="http://schemas.microsoft.com/office/drawing/2014/main" id="{993CFD0D-3783-EFAC-16C9-AB755D08C5F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49F173-F8C9-4723-9CA0-D7FF08973689}"/>
              </a:ext>
            </a:extLst>
          </p:cNvPr>
          <p:cNvSpPr/>
          <p:nvPr/>
        </p:nvSpPr>
        <p:spPr>
          <a:xfrm>
            <a:off x="0" y="0"/>
            <a:ext cx="9144000" cy="822960"/>
          </a:xfrm>
          <a:prstGeom prst="rect">
            <a:avLst/>
          </a:prstGeom>
          <a:solidFill>
            <a:srgbClr val="2ECC71"/>
          </a:solidFill>
          <a:ln/>
        </p:spPr>
        <p:txBody>
          <a:bodyPr/>
          <a:lstStyle/>
          <a:p>
            <a:endParaRPr lang="en-IN"/>
          </a:p>
        </p:txBody>
      </p:sp>
      <p:sp>
        <p:nvSpPr>
          <p:cNvPr id="3" name="Text 1">
            <a:extLst>
              <a:ext uri="{FF2B5EF4-FFF2-40B4-BE49-F238E27FC236}">
                <a16:creationId xmlns:a16="http://schemas.microsoft.com/office/drawing/2014/main" id="{23B59677-C919-38E3-DEA9-F2DE8261B287}"/>
              </a:ext>
            </a:extLst>
          </p:cNvPr>
          <p:cNvSpPr/>
          <p:nvPr/>
        </p:nvSpPr>
        <p:spPr>
          <a:xfrm>
            <a:off x="365760" y="109728"/>
            <a:ext cx="8412480" cy="603504"/>
          </a:xfrm>
          <a:prstGeom prst="rect">
            <a:avLst/>
          </a:prstGeom>
          <a:noFill/>
          <a:ln/>
        </p:spPr>
        <p:txBody>
          <a:bodyPr wrap="square" rtlCol="0" anchor="ctr"/>
          <a:lstStyle/>
          <a:p>
            <a:pPr marL="0" indent="0">
              <a:buNone/>
            </a:pPr>
            <a:r>
              <a:rPr lang="en-US" sz="2200" b="1" dirty="0">
                <a:solidFill>
                  <a:srgbClr val="FFFFFF"/>
                </a:solidFill>
              </a:rPr>
              <a:t>ABSTRACT</a:t>
            </a:r>
            <a:endParaRPr lang="en-US" sz="2200" dirty="0"/>
          </a:p>
        </p:txBody>
      </p:sp>
      <p:grpSp>
        <p:nvGrpSpPr>
          <p:cNvPr id="25" name="Group 24">
            <a:extLst>
              <a:ext uri="{FF2B5EF4-FFF2-40B4-BE49-F238E27FC236}">
                <a16:creationId xmlns:a16="http://schemas.microsoft.com/office/drawing/2014/main" id="{C446CE59-AABE-32E3-42AE-238115FE74A5}"/>
              </a:ext>
            </a:extLst>
          </p:cNvPr>
          <p:cNvGrpSpPr/>
          <p:nvPr/>
        </p:nvGrpSpPr>
        <p:grpSpPr>
          <a:xfrm>
            <a:off x="182880" y="1120140"/>
            <a:ext cx="8595360" cy="3575304"/>
            <a:chOff x="274320" y="914400"/>
            <a:chExt cx="8595360" cy="3575304"/>
          </a:xfrm>
        </p:grpSpPr>
        <p:sp>
          <p:nvSpPr>
            <p:cNvPr id="4" name="Shape 2">
              <a:extLst>
                <a:ext uri="{FF2B5EF4-FFF2-40B4-BE49-F238E27FC236}">
                  <a16:creationId xmlns:a16="http://schemas.microsoft.com/office/drawing/2014/main" id="{D4DFFC35-8BEB-09DF-8BCB-37793822BD2E}"/>
                </a:ext>
              </a:extLst>
            </p:cNvPr>
            <p:cNvSpPr/>
            <p:nvPr/>
          </p:nvSpPr>
          <p:spPr>
            <a:xfrm>
              <a:off x="274320" y="914400"/>
              <a:ext cx="8595360" cy="3575304"/>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5" name="Shape 3">
              <a:extLst>
                <a:ext uri="{FF2B5EF4-FFF2-40B4-BE49-F238E27FC236}">
                  <a16:creationId xmlns:a16="http://schemas.microsoft.com/office/drawing/2014/main" id="{96641E68-FE54-47C1-8648-AE64C34A7758}"/>
                </a:ext>
              </a:extLst>
            </p:cNvPr>
            <p:cNvSpPr/>
            <p:nvPr/>
          </p:nvSpPr>
          <p:spPr>
            <a:xfrm>
              <a:off x="274320" y="914400"/>
              <a:ext cx="91440" cy="3575304"/>
            </a:xfrm>
            <a:prstGeom prst="rect">
              <a:avLst/>
            </a:prstGeom>
            <a:solidFill>
              <a:srgbClr val="2ECC71"/>
            </a:solidFill>
            <a:ln/>
          </p:spPr>
          <p:txBody>
            <a:bodyPr/>
            <a:lstStyle/>
            <a:p>
              <a:endParaRPr lang="en-IN"/>
            </a:p>
          </p:txBody>
        </p:sp>
        <p:sp>
          <p:nvSpPr>
            <p:cNvPr id="6" name="Text 4">
              <a:extLst>
                <a:ext uri="{FF2B5EF4-FFF2-40B4-BE49-F238E27FC236}">
                  <a16:creationId xmlns:a16="http://schemas.microsoft.com/office/drawing/2014/main" id="{839A8649-9A6D-93C4-97C1-81BA2262F765}"/>
                </a:ext>
              </a:extLst>
            </p:cNvPr>
            <p:cNvSpPr/>
            <p:nvPr/>
          </p:nvSpPr>
          <p:spPr>
            <a:xfrm>
              <a:off x="502920" y="987552"/>
              <a:ext cx="8229600" cy="320040"/>
            </a:xfrm>
            <a:prstGeom prst="rect">
              <a:avLst/>
            </a:prstGeom>
            <a:noFill/>
            <a:ln/>
          </p:spPr>
          <p:txBody>
            <a:bodyPr wrap="square" rtlCol="0" anchor="ctr"/>
            <a:lstStyle/>
            <a:p>
              <a:pPr marL="0" indent="0">
                <a:buNone/>
              </a:pPr>
              <a:endParaRPr lang="en-US" sz="1400" dirty="0"/>
            </a:p>
          </p:txBody>
        </p:sp>
      </p:grpSp>
      <p:sp>
        <p:nvSpPr>
          <p:cNvPr id="21" name="Shape 19">
            <a:extLst>
              <a:ext uri="{FF2B5EF4-FFF2-40B4-BE49-F238E27FC236}">
                <a16:creationId xmlns:a16="http://schemas.microsoft.com/office/drawing/2014/main" id="{B0A09F9F-0406-302F-AB7C-8BCC63F5F18B}"/>
              </a:ext>
            </a:extLst>
          </p:cNvPr>
          <p:cNvSpPr/>
          <p:nvPr/>
        </p:nvSpPr>
        <p:spPr>
          <a:xfrm>
            <a:off x="0" y="4892040"/>
            <a:ext cx="9144000" cy="256032"/>
          </a:xfrm>
          <a:prstGeom prst="rect">
            <a:avLst/>
          </a:prstGeom>
          <a:solidFill>
            <a:srgbClr val="1A9E57"/>
          </a:solidFill>
          <a:ln/>
        </p:spPr>
        <p:txBody>
          <a:bodyPr/>
          <a:lstStyle/>
          <a:p>
            <a:endParaRPr lang="en-IN"/>
          </a:p>
        </p:txBody>
      </p:sp>
      <p:sp>
        <p:nvSpPr>
          <p:cNvPr id="22" name="Text 20">
            <a:extLst>
              <a:ext uri="{FF2B5EF4-FFF2-40B4-BE49-F238E27FC236}">
                <a16:creationId xmlns:a16="http://schemas.microsoft.com/office/drawing/2014/main" id="{950907A9-5367-B751-9EC2-3ECC6A12BBCD}"/>
              </a:ext>
            </a:extLst>
          </p:cNvPr>
          <p:cNvSpPr/>
          <p:nvPr/>
        </p:nvSpPr>
        <p:spPr>
          <a:xfrm>
            <a:off x="0" y="4910328"/>
            <a:ext cx="9144000" cy="228600"/>
          </a:xfrm>
          <a:prstGeom prst="rect">
            <a:avLst/>
          </a:prstGeom>
          <a:noFill/>
          <a:ln/>
        </p:spPr>
        <p:txBody>
          <a:bodyPr wrap="square" rtlCol="0" anchor="ctr"/>
          <a:lstStyle/>
          <a:p>
            <a:pPr marL="0" indent="0" algn="ctr">
              <a:buNone/>
            </a:pPr>
            <a:r>
              <a:rPr lang="en-US" sz="1000" b="1" dirty="0">
                <a:solidFill>
                  <a:srgbClr val="FFFFFF"/>
                </a:solidFill>
              </a:rPr>
              <a:t>Smart Irrigation — Smarter Farming — Sustainable Future  |  Narayana Engineering College, Nellore</a:t>
            </a:r>
            <a:endParaRPr lang="en-US" sz="1000" dirty="0"/>
          </a:p>
        </p:txBody>
      </p:sp>
      <p:sp>
        <p:nvSpPr>
          <p:cNvPr id="26" name="Text 5">
            <a:extLst>
              <a:ext uri="{FF2B5EF4-FFF2-40B4-BE49-F238E27FC236}">
                <a16:creationId xmlns:a16="http://schemas.microsoft.com/office/drawing/2014/main" id="{45FC968A-D339-D184-C817-683E9F2F8806}"/>
              </a:ext>
            </a:extLst>
          </p:cNvPr>
          <p:cNvSpPr/>
          <p:nvPr/>
        </p:nvSpPr>
        <p:spPr>
          <a:xfrm>
            <a:off x="411480" y="1193292"/>
            <a:ext cx="8229600" cy="2464308"/>
          </a:xfrm>
          <a:prstGeom prst="rect">
            <a:avLst/>
          </a:prstGeom>
          <a:noFill/>
          <a:ln/>
        </p:spPr>
        <p:txBody>
          <a:bodyPr wrap="square" rtlCol="0" anchor="ctr"/>
          <a:lstStyle/>
          <a:p>
            <a:pPr algn="just">
              <a:lnSpc>
                <a:spcPct val="150000"/>
              </a:lnSpc>
            </a:pPr>
            <a:r>
              <a:rPr lang="en-US" sz="1200" dirty="0"/>
              <a:t>This project presents a smart irrigation system that moves beyond traditional soil moisture–based methods by using the Atmosphere-Plant-Soil (APS) model. It integrates sensors like BME280 and BH1750 with an ESP32-S3 to calculate Vapor Pressure Deficit (VPD), reflecting real-time atmospheric demand. By combining soil moisture, solar intensity, and VPD trends, the system predicts future water needs instead of reacting late. An RTC-based scheduling system ensures irrigation at optimal times, reducing water loss. It also includes an IoT dashboard for monitoring and a fail-safe mechanism for system protection. Overall, the solution improves water efficiency and supports precision agriculture. </a:t>
            </a:r>
          </a:p>
          <a:p>
            <a:pPr algn="just">
              <a:lnSpc>
                <a:spcPct val="150000"/>
              </a:lnSpc>
            </a:pPr>
            <a:endParaRPr lang="en-US" sz="1200" dirty="0"/>
          </a:p>
          <a:p>
            <a:pPr algn="just">
              <a:lnSpc>
                <a:spcPct val="150000"/>
              </a:lnSpc>
            </a:pPr>
            <a:r>
              <a:rPr lang="en-US" sz="1200" dirty="0"/>
              <a:t>Keywords: VPD (Vapor Pressure Deficit) , Precision Agriculture, IoT, ESP32-S3, Solar Flux </a:t>
            </a:r>
          </a:p>
          <a:p>
            <a:pPr algn="just">
              <a:lnSpc>
                <a:spcPct val="150000"/>
              </a:lnSpc>
            </a:pPr>
            <a:r>
              <a:rPr lang="en-US" sz="1200" dirty="0"/>
              <a:t>Fusion, Predictive Irrigation</a:t>
            </a:r>
          </a:p>
        </p:txBody>
      </p:sp>
    </p:spTree>
    <p:extLst>
      <p:ext uri="{BB962C8B-B14F-4D97-AF65-F5344CB8AC3E}">
        <p14:creationId xmlns:p14="http://schemas.microsoft.com/office/powerpoint/2010/main" val="719211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B050"/>
          </a:solidFill>
          <a:ln/>
        </p:spPr>
        <p:txBody>
          <a:bodyPr/>
          <a:lstStyle/>
          <a:p>
            <a:endParaRPr lang="en-IN"/>
          </a:p>
        </p:txBody>
      </p:sp>
      <p:sp>
        <p:nvSpPr>
          <p:cNvPr id="3" name="Text 1"/>
          <p:cNvSpPr/>
          <p:nvPr/>
        </p:nvSpPr>
        <p:spPr>
          <a:xfrm>
            <a:off x="365760" y="109728"/>
            <a:ext cx="8412480" cy="603504"/>
          </a:xfrm>
          <a:prstGeom prst="rect">
            <a:avLst/>
          </a:prstGeom>
          <a:noFill/>
          <a:ln/>
        </p:spPr>
        <p:txBody>
          <a:bodyPr wrap="square" rtlCol="0" anchor="ctr"/>
          <a:lstStyle/>
          <a:p>
            <a:pPr marL="0" indent="0">
              <a:buNone/>
            </a:pPr>
            <a:r>
              <a:rPr lang="en-US" sz="2200" b="1" dirty="0">
                <a:solidFill>
                  <a:srgbClr val="FFFFFF"/>
                </a:solidFill>
              </a:rPr>
              <a:t>INTRODUCTION &amp; PROBLEM STATEMENT</a:t>
            </a:r>
            <a:endParaRPr lang="en-US" sz="2200" dirty="0"/>
          </a:p>
        </p:txBody>
      </p:sp>
      <p:sp>
        <p:nvSpPr>
          <p:cNvPr id="4" name="Shape 2"/>
          <p:cNvSpPr/>
          <p:nvPr/>
        </p:nvSpPr>
        <p:spPr>
          <a:xfrm>
            <a:off x="274320" y="1005840"/>
            <a:ext cx="3657600" cy="3931920"/>
          </a:xfrm>
          <a:prstGeom prst="rect">
            <a:avLst/>
          </a:prstGeom>
          <a:solidFill>
            <a:srgbClr val="D5F5E3"/>
          </a:solidFill>
          <a:ln/>
          <a:effectLst>
            <a:outerShdw blurRad="101600" dist="38100" dir="8100000" algn="bl" rotWithShape="0">
              <a:srgbClr val="000000">
                <a:alpha val="10000"/>
              </a:srgbClr>
            </a:outerShdw>
          </a:effectLst>
        </p:spPr>
        <p:txBody>
          <a:bodyPr/>
          <a:lstStyle/>
          <a:p>
            <a:endParaRPr lang="en-IN"/>
          </a:p>
        </p:txBody>
      </p:sp>
      <p:sp>
        <p:nvSpPr>
          <p:cNvPr id="5" name="Text 3"/>
          <p:cNvSpPr/>
          <p:nvPr/>
        </p:nvSpPr>
        <p:spPr>
          <a:xfrm>
            <a:off x="457200" y="1097280"/>
            <a:ext cx="3291840" cy="365760"/>
          </a:xfrm>
          <a:prstGeom prst="rect">
            <a:avLst/>
          </a:prstGeom>
          <a:noFill/>
          <a:ln/>
        </p:spPr>
        <p:txBody>
          <a:bodyPr wrap="square" rtlCol="0" anchor="ctr"/>
          <a:lstStyle/>
          <a:p>
            <a:pPr marL="0" indent="0">
              <a:buNone/>
            </a:pPr>
            <a:r>
              <a:rPr lang="en-US" sz="1400" b="1" dirty="0">
                <a:solidFill>
                  <a:srgbClr val="00B050"/>
                </a:solidFill>
              </a:rPr>
              <a:t>Introduction</a:t>
            </a:r>
            <a:endParaRPr lang="en-US" sz="1400" dirty="0">
              <a:solidFill>
                <a:srgbClr val="00B050"/>
              </a:solidFill>
            </a:endParaRPr>
          </a:p>
        </p:txBody>
      </p:sp>
      <p:sp>
        <p:nvSpPr>
          <p:cNvPr id="7" name="Text 5"/>
          <p:cNvSpPr/>
          <p:nvPr/>
        </p:nvSpPr>
        <p:spPr>
          <a:xfrm>
            <a:off x="548640" y="1709928"/>
            <a:ext cx="2971800" cy="2788920"/>
          </a:xfrm>
          <a:prstGeom prst="rect">
            <a:avLst/>
          </a:prstGeom>
          <a:noFill/>
          <a:ln/>
        </p:spPr>
        <p:txBody>
          <a:bodyPr wrap="square" rtlCol="0" anchor="ctr"/>
          <a:lstStyle/>
          <a:p>
            <a:pPr marL="0" indent="0" algn="ctr">
              <a:buNone/>
            </a:pPr>
            <a:endParaRPr lang="en-US" sz="2600" dirty="0"/>
          </a:p>
        </p:txBody>
      </p:sp>
      <p:sp>
        <p:nvSpPr>
          <p:cNvPr id="8" name="Text 6"/>
          <p:cNvSpPr/>
          <p:nvPr/>
        </p:nvSpPr>
        <p:spPr>
          <a:xfrm>
            <a:off x="1600200" y="1664208"/>
            <a:ext cx="1920240" cy="640080"/>
          </a:xfrm>
          <a:prstGeom prst="rect">
            <a:avLst/>
          </a:prstGeom>
          <a:noFill/>
          <a:ln/>
        </p:spPr>
        <p:txBody>
          <a:bodyPr wrap="square" rtlCol="0" anchor="ctr"/>
          <a:lstStyle/>
          <a:p>
            <a:pPr marL="0" indent="0">
              <a:buNone/>
            </a:pPr>
            <a:endParaRPr lang="en-US" sz="1100" dirty="0"/>
          </a:p>
        </p:txBody>
      </p:sp>
      <p:sp>
        <p:nvSpPr>
          <p:cNvPr id="10" name="Text 8"/>
          <p:cNvSpPr/>
          <p:nvPr/>
        </p:nvSpPr>
        <p:spPr>
          <a:xfrm>
            <a:off x="457200" y="2807208"/>
            <a:ext cx="1143000" cy="548640"/>
          </a:xfrm>
          <a:prstGeom prst="rect">
            <a:avLst/>
          </a:prstGeom>
          <a:noFill/>
          <a:ln/>
        </p:spPr>
        <p:txBody>
          <a:bodyPr wrap="square" rtlCol="0" anchor="ctr"/>
          <a:lstStyle/>
          <a:p>
            <a:pPr marL="0" indent="0" algn="ctr">
              <a:buNone/>
            </a:pPr>
            <a:endParaRPr lang="en-US" sz="2600" dirty="0"/>
          </a:p>
        </p:txBody>
      </p:sp>
      <p:sp>
        <p:nvSpPr>
          <p:cNvPr id="11" name="Text 9"/>
          <p:cNvSpPr/>
          <p:nvPr/>
        </p:nvSpPr>
        <p:spPr>
          <a:xfrm>
            <a:off x="1600200" y="2761488"/>
            <a:ext cx="1920240" cy="640080"/>
          </a:xfrm>
          <a:prstGeom prst="rect">
            <a:avLst/>
          </a:prstGeom>
          <a:noFill/>
          <a:ln/>
        </p:spPr>
        <p:txBody>
          <a:bodyPr wrap="square" rtlCol="0" anchor="ctr"/>
          <a:lstStyle/>
          <a:p>
            <a:pPr marL="0" indent="0">
              <a:buNone/>
            </a:pPr>
            <a:endParaRPr lang="en-US" sz="1100" dirty="0"/>
          </a:p>
        </p:txBody>
      </p:sp>
      <p:sp>
        <p:nvSpPr>
          <p:cNvPr id="12" name="Shape 10"/>
          <p:cNvSpPr/>
          <p:nvPr/>
        </p:nvSpPr>
        <p:spPr>
          <a:xfrm>
            <a:off x="457200" y="1488360"/>
            <a:ext cx="3200400" cy="3193368"/>
          </a:xfrm>
          <a:prstGeom prst="rect">
            <a:avLst/>
          </a:prstGeom>
          <a:solidFill>
            <a:srgbClr val="FFFFFF"/>
          </a:solidFill>
          <a:ln/>
          <a:effectLst>
            <a:outerShdw blurRad="101600" dist="38100" dir="8100000" algn="bl" rotWithShape="0">
              <a:srgbClr val="000000">
                <a:alpha val="10000"/>
              </a:srgbClr>
            </a:outerShdw>
          </a:effectLst>
        </p:spPr>
        <p:txBody>
          <a:bodyPr/>
          <a:lstStyle/>
          <a:p>
            <a:pPr marL="171450" indent="-171450">
              <a:buFont typeface="Arial" panose="020B0604020202020204" pitchFamily="34" charset="0"/>
              <a:buChar char="•"/>
            </a:pPr>
            <a:r>
              <a:rPr lang="en-US" sz="1200" dirty="0"/>
              <a:t> </a:t>
            </a:r>
            <a:r>
              <a:rPr lang="en-US" sz="1400" dirty="0"/>
              <a:t>Uses IoT sensors to monitor temperature, humidity, and sunlight.</a:t>
            </a:r>
          </a:p>
          <a:p>
            <a:pPr marL="171450" indent="-171450">
              <a:buFont typeface="Arial" panose="020B0604020202020204" pitchFamily="34" charset="0"/>
              <a:buChar char="•"/>
            </a:pPr>
            <a:r>
              <a:rPr lang="en-US" sz="1400" dirty="0"/>
              <a:t> VPD helps understand how much water plants need.</a:t>
            </a:r>
          </a:p>
          <a:p>
            <a:pPr marL="171450" indent="-171450">
              <a:buFont typeface="Arial" panose="020B0604020202020204" pitchFamily="34" charset="0"/>
              <a:buChar char="•"/>
            </a:pPr>
            <a:r>
              <a:rPr lang="en-US" sz="1400" dirty="0"/>
              <a:t> Solar flux shows how much sunlight plants receive.</a:t>
            </a:r>
          </a:p>
          <a:p>
            <a:pPr marL="171450" indent="-171450">
              <a:buFont typeface="Arial" panose="020B0604020202020204" pitchFamily="34" charset="0"/>
              <a:buChar char="•"/>
            </a:pPr>
            <a:r>
              <a:rPr lang="en-US" sz="1400" dirty="0"/>
              <a:t> Combines both data for better irrigation decisions.</a:t>
            </a:r>
          </a:p>
          <a:p>
            <a:pPr marL="171450" indent="-171450">
              <a:buFont typeface="Arial" panose="020B0604020202020204" pitchFamily="34" charset="0"/>
              <a:buChar char="•"/>
            </a:pPr>
            <a:r>
              <a:rPr lang="en-US" sz="1400" dirty="0"/>
              <a:t> Automatically controls watering to save water and improve crop growth.</a:t>
            </a:r>
          </a:p>
          <a:p>
            <a:pPr marL="171450" indent="-171450">
              <a:buFont typeface="Arial" panose="020B0604020202020204" pitchFamily="34" charset="0"/>
              <a:buChar char="•"/>
            </a:pPr>
            <a:endParaRPr lang="en-IN" sz="1200" dirty="0">
              <a:solidFill>
                <a:srgbClr val="00B050"/>
              </a:solidFill>
            </a:endParaRPr>
          </a:p>
        </p:txBody>
      </p:sp>
      <p:sp>
        <p:nvSpPr>
          <p:cNvPr id="13" name="Text 11"/>
          <p:cNvSpPr/>
          <p:nvPr/>
        </p:nvSpPr>
        <p:spPr>
          <a:xfrm>
            <a:off x="525780" y="3904488"/>
            <a:ext cx="1005840" cy="548640"/>
          </a:xfrm>
          <a:prstGeom prst="rect">
            <a:avLst/>
          </a:prstGeom>
          <a:noFill/>
          <a:ln/>
        </p:spPr>
        <p:txBody>
          <a:bodyPr wrap="square" rtlCol="0" anchor="ctr"/>
          <a:lstStyle/>
          <a:p>
            <a:pPr marL="0" indent="0" algn="ctr">
              <a:buNone/>
            </a:pPr>
            <a:endParaRPr lang="en-US" sz="2600" dirty="0"/>
          </a:p>
        </p:txBody>
      </p:sp>
      <p:sp>
        <p:nvSpPr>
          <p:cNvPr id="14" name="Text 12"/>
          <p:cNvSpPr/>
          <p:nvPr/>
        </p:nvSpPr>
        <p:spPr>
          <a:xfrm>
            <a:off x="1600200" y="3858768"/>
            <a:ext cx="1920240" cy="640080"/>
          </a:xfrm>
          <a:prstGeom prst="rect">
            <a:avLst/>
          </a:prstGeom>
          <a:noFill/>
          <a:ln/>
        </p:spPr>
        <p:txBody>
          <a:bodyPr wrap="square" rtlCol="0" anchor="ctr"/>
          <a:lstStyle/>
          <a:p>
            <a:pPr marL="0" indent="0">
              <a:buNone/>
            </a:pPr>
            <a:endParaRPr lang="en-US" sz="1100" dirty="0"/>
          </a:p>
        </p:txBody>
      </p:sp>
      <p:sp>
        <p:nvSpPr>
          <p:cNvPr id="15" name="Shape 13"/>
          <p:cNvSpPr/>
          <p:nvPr/>
        </p:nvSpPr>
        <p:spPr>
          <a:xfrm>
            <a:off x="4206240" y="1005840"/>
            <a:ext cx="4663440" cy="39319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6" name="Text 14"/>
          <p:cNvSpPr/>
          <p:nvPr/>
        </p:nvSpPr>
        <p:spPr>
          <a:xfrm>
            <a:off x="4389120" y="1097280"/>
            <a:ext cx="4297680" cy="365760"/>
          </a:xfrm>
          <a:prstGeom prst="rect">
            <a:avLst/>
          </a:prstGeom>
          <a:noFill/>
          <a:ln/>
        </p:spPr>
        <p:txBody>
          <a:bodyPr wrap="square" rtlCol="0" anchor="ctr"/>
          <a:lstStyle/>
          <a:p>
            <a:pPr marL="0" indent="0">
              <a:buNone/>
            </a:pPr>
            <a:r>
              <a:rPr lang="en-US" sz="1400" b="1" dirty="0">
                <a:solidFill>
                  <a:srgbClr val="2C3E50"/>
                </a:solidFill>
              </a:rPr>
              <a:t>Problems with Old Systems</a:t>
            </a:r>
            <a:endParaRPr lang="en-US" sz="1400" dirty="0"/>
          </a:p>
        </p:txBody>
      </p:sp>
      <p:sp>
        <p:nvSpPr>
          <p:cNvPr id="17" name="Shape 15"/>
          <p:cNvSpPr/>
          <p:nvPr/>
        </p:nvSpPr>
        <p:spPr>
          <a:xfrm>
            <a:off x="4389120" y="1645920"/>
            <a:ext cx="274320" cy="274320"/>
          </a:xfrm>
          <a:prstGeom prst="ellipse">
            <a:avLst/>
          </a:prstGeom>
          <a:solidFill>
            <a:srgbClr val="2ECC71"/>
          </a:solidFill>
          <a:ln/>
        </p:spPr>
        <p:txBody>
          <a:bodyPr/>
          <a:lstStyle/>
          <a:p>
            <a:endParaRPr lang="en-IN"/>
          </a:p>
        </p:txBody>
      </p:sp>
      <p:sp>
        <p:nvSpPr>
          <p:cNvPr id="18" name="Text 16"/>
          <p:cNvSpPr/>
          <p:nvPr/>
        </p:nvSpPr>
        <p:spPr>
          <a:xfrm>
            <a:off x="4389120" y="1627632"/>
            <a:ext cx="274320" cy="292608"/>
          </a:xfrm>
          <a:prstGeom prst="rect">
            <a:avLst/>
          </a:prstGeom>
          <a:noFill/>
          <a:ln/>
        </p:spPr>
        <p:txBody>
          <a:bodyPr wrap="square" rtlCol="0" anchor="ctr"/>
          <a:lstStyle/>
          <a:p>
            <a:pPr marL="0" indent="0" algn="ctr">
              <a:buNone/>
            </a:pPr>
            <a:r>
              <a:rPr lang="en-US" sz="1100" b="1" dirty="0">
                <a:solidFill>
                  <a:srgbClr val="FFFFFF"/>
                </a:solidFill>
              </a:rPr>
              <a:t>1</a:t>
            </a:r>
            <a:endParaRPr lang="en-US" sz="1100" dirty="0"/>
          </a:p>
        </p:txBody>
      </p:sp>
      <p:sp>
        <p:nvSpPr>
          <p:cNvPr id="19" name="Text 17"/>
          <p:cNvSpPr/>
          <p:nvPr/>
        </p:nvSpPr>
        <p:spPr>
          <a:xfrm>
            <a:off x="4754880" y="1488360"/>
            <a:ext cx="3931920" cy="731520"/>
          </a:xfrm>
          <a:prstGeom prst="rect">
            <a:avLst/>
          </a:prstGeom>
          <a:noFill/>
          <a:ln/>
        </p:spPr>
        <p:txBody>
          <a:bodyPr wrap="square" rtlCol="0" anchor="ctr"/>
          <a:lstStyle/>
          <a:p>
            <a:pPr marL="0" indent="0">
              <a:buNone/>
            </a:pPr>
            <a:r>
              <a:rPr lang="en-US" sz="1100" dirty="0">
                <a:solidFill>
                  <a:srgbClr val="7F8C8D"/>
                </a:solidFill>
              </a:rPr>
              <a:t>Water only when soil gets dry — by then the plant is already stressed</a:t>
            </a:r>
            <a:endParaRPr lang="en-US" sz="1100" dirty="0"/>
          </a:p>
        </p:txBody>
      </p:sp>
      <p:sp>
        <p:nvSpPr>
          <p:cNvPr id="20" name="Shape 18"/>
          <p:cNvSpPr/>
          <p:nvPr/>
        </p:nvSpPr>
        <p:spPr>
          <a:xfrm>
            <a:off x="4389120" y="2468880"/>
            <a:ext cx="274320" cy="274320"/>
          </a:xfrm>
          <a:prstGeom prst="ellipse">
            <a:avLst/>
          </a:prstGeom>
          <a:solidFill>
            <a:srgbClr val="2ECC71"/>
          </a:solidFill>
          <a:ln/>
        </p:spPr>
        <p:txBody>
          <a:bodyPr/>
          <a:lstStyle/>
          <a:p>
            <a:endParaRPr lang="en-IN"/>
          </a:p>
        </p:txBody>
      </p:sp>
      <p:sp>
        <p:nvSpPr>
          <p:cNvPr id="21" name="Text 19"/>
          <p:cNvSpPr/>
          <p:nvPr/>
        </p:nvSpPr>
        <p:spPr>
          <a:xfrm>
            <a:off x="4389120" y="2450592"/>
            <a:ext cx="274320" cy="292608"/>
          </a:xfrm>
          <a:prstGeom prst="rect">
            <a:avLst/>
          </a:prstGeom>
          <a:noFill/>
          <a:ln/>
        </p:spPr>
        <p:txBody>
          <a:bodyPr wrap="square" rtlCol="0" anchor="ctr"/>
          <a:lstStyle/>
          <a:p>
            <a:pPr marL="0" indent="0" algn="ctr">
              <a:buNone/>
            </a:pPr>
            <a:r>
              <a:rPr lang="en-US" sz="1100" b="1" dirty="0">
                <a:solidFill>
                  <a:srgbClr val="FFFFFF"/>
                </a:solidFill>
              </a:rPr>
              <a:t>2</a:t>
            </a:r>
            <a:endParaRPr lang="en-US" sz="1100" dirty="0"/>
          </a:p>
        </p:txBody>
      </p:sp>
      <p:sp>
        <p:nvSpPr>
          <p:cNvPr id="22" name="Text 20"/>
          <p:cNvSpPr/>
          <p:nvPr/>
        </p:nvSpPr>
        <p:spPr>
          <a:xfrm>
            <a:off x="4754880" y="2226912"/>
            <a:ext cx="3931920" cy="731520"/>
          </a:xfrm>
          <a:prstGeom prst="rect">
            <a:avLst/>
          </a:prstGeom>
          <a:noFill/>
          <a:ln/>
        </p:spPr>
        <p:txBody>
          <a:bodyPr wrap="square" rtlCol="0" anchor="ctr"/>
          <a:lstStyle/>
          <a:p>
            <a:pPr marL="0" indent="0">
              <a:buNone/>
            </a:pPr>
            <a:r>
              <a:rPr lang="en-US" sz="1100" dirty="0">
                <a:solidFill>
                  <a:srgbClr val="7F8C8D"/>
                </a:solidFill>
              </a:rPr>
              <a:t>No idea about how hot and dry the air is — VPD is never checked</a:t>
            </a:r>
            <a:endParaRPr lang="en-US" sz="1100" dirty="0"/>
          </a:p>
        </p:txBody>
      </p:sp>
      <p:sp>
        <p:nvSpPr>
          <p:cNvPr id="23" name="Shape 21"/>
          <p:cNvSpPr/>
          <p:nvPr/>
        </p:nvSpPr>
        <p:spPr>
          <a:xfrm>
            <a:off x="4389120" y="3291840"/>
            <a:ext cx="274320" cy="274320"/>
          </a:xfrm>
          <a:prstGeom prst="ellipse">
            <a:avLst/>
          </a:prstGeom>
          <a:solidFill>
            <a:srgbClr val="2ECC71"/>
          </a:solidFill>
          <a:ln/>
        </p:spPr>
        <p:txBody>
          <a:bodyPr/>
          <a:lstStyle/>
          <a:p>
            <a:endParaRPr lang="en-IN"/>
          </a:p>
        </p:txBody>
      </p:sp>
      <p:sp>
        <p:nvSpPr>
          <p:cNvPr id="24" name="Text 22"/>
          <p:cNvSpPr/>
          <p:nvPr/>
        </p:nvSpPr>
        <p:spPr>
          <a:xfrm>
            <a:off x="4389120" y="3273552"/>
            <a:ext cx="274320" cy="292608"/>
          </a:xfrm>
          <a:prstGeom prst="rect">
            <a:avLst/>
          </a:prstGeom>
          <a:noFill/>
          <a:ln/>
        </p:spPr>
        <p:txBody>
          <a:bodyPr wrap="square" rtlCol="0" anchor="ctr"/>
          <a:lstStyle/>
          <a:p>
            <a:pPr marL="0" indent="0" algn="ctr">
              <a:buNone/>
            </a:pPr>
            <a:r>
              <a:rPr lang="en-US" sz="1100" b="1" dirty="0">
                <a:solidFill>
                  <a:srgbClr val="FFFFFF"/>
                </a:solidFill>
              </a:rPr>
              <a:t>3</a:t>
            </a:r>
            <a:endParaRPr lang="en-US" sz="1100" dirty="0"/>
          </a:p>
        </p:txBody>
      </p:sp>
      <p:sp>
        <p:nvSpPr>
          <p:cNvPr id="25" name="Text 23"/>
          <p:cNvSpPr/>
          <p:nvPr/>
        </p:nvSpPr>
        <p:spPr>
          <a:xfrm>
            <a:off x="4754880" y="3063944"/>
            <a:ext cx="3931920" cy="731520"/>
          </a:xfrm>
          <a:prstGeom prst="rect">
            <a:avLst/>
          </a:prstGeom>
          <a:noFill/>
          <a:ln/>
        </p:spPr>
        <p:txBody>
          <a:bodyPr wrap="square" rtlCol="0" anchor="ctr"/>
          <a:lstStyle/>
          <a:p>
            <a:pPr marL="0" indent="0">
              <a:buNone/>
            </a:pPr>
            <a:r>
              <a:rPr lang="en-US" sz="1100" dirty="0">
                <a:solidFill>
                  <a:srgbClr val="7F8C8D"/>
                </a:solidFill>
              </a:rPr>
              <a:t>Irrigating at noon loses water to evaporation instantly</a:t>
            </a:r>
            <a:endParaRPr lang="en-US" sz="1100" dirty="0"/>
          </a:p>
        </p:txBody>
      </p:sp>
      <p:sp>
        <p:nvSpPr>
          <p:cNvPr id="26" name="Shape 24"/>
          <p:cNvSpPr/>
          <p:nvPr/>
        </p:nvSpPr>
        <p:spPr>
          <a:xfrm>
            <a:off x="4389120" y="4114800"/>
            <a:ext cx="274320" cy="274320"/>
          </a:xfrm>
          <a:prstGeom prst="ellipse">
            <a:avLst/>
          </a:prstGeom>
          <a:solidFill>
            <a:srgbClr val="2ECC71"/>
          </a:solidFill>
          <a:ln/>
        </p:spPr>
        <p:txBody>
          <a:bodyPr/>
          <a:lstStyle/>
          <a:p>
            <a:endParaRPr lang="en-IN"/>
          </a:p>
        </p:txBody>
      </p:sp>
      <p:sp>
        <p:nvSpPr>
          <p:cNvPr id="27" name="Text 25"/>
          <p:cNvSpPr/>
          <p:nvPr/>
        </p:nvSpPr>
        <p:spPr>
          <a:xfrm>
            <a:off x="4389120" y="4096512"/>
            <a:ext cx="274320" cy="292608"/>
          </a:xfrm>
          <a:prstGeom prst="rect">
            <a:avLst/>
          </a:prstGeom>
          <a:noFill/>
          <a:ln/>
        </p:spPr>
        <p:txBody>
          <a:bodyPr wrap="square" rtlCol="0" anchor="ctr"/>
          <a:lstStyle/>
          <a:p>
            <a:pPr marL="0" indent="0" algn="ctr">
              <a:buNone/>
            </a:pPr>
            <a:r>
              <a:rPr lang="en-US" sz="1100" b="1" dirty="0">
                <a:solidFill>
                  <a:srgbClr val="FFFFFF"/>
                </a:solidFill>
              </a:rPr>
              <a:t>4</a:t>
            </a:r>
            <a:endParaRPr lang="en-US" sz="1100" dirty="0"/>
          </a:p>
        </p:txBody>
      </p:sp>
      <p:sp>
        <p:nvSpPr>
          <p:cNvPr id="28" name="Text 26"/>
          <p:cNvSpPr/>
          <p:nvPr/>
        </p:nvSpPr>
        <p:spPr>
          <a:xfrm>
            <a:off x="4754880" y="3879866"/>
            <a:ext cx="3931920" cy="731520"/>
          </a:xfrm>
          <a:prstGeom prst="rect">
            <a:avLst/>
          </a:prstGeom>
          <a:noFill/>
          <a:ln/>
        </p:spPr>
        <p:txBody>
          <a:bodyPr wrap="square" rtlCol="0" anchor="ctr"/>
          <a:lstStyle/>
          <a:p>
            <a:pPr marL="0" indent="0">
              <a:buNone/>
            </a:pPr>
            <a:r>
              <a:rPr lang="en-US" sz="1100" dirty="0">
                <a:solidFill>
                  <a:srgbClr val="7F8C8D"/>
                </a:solidFill>
              </a:rPr>
              <a:t>Pumps run dry or pipes burst with no automatic protection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CC71"/>
          </a:solidFill>
          <a:ln/>
        </p:spPr>
        <p:txBody>
          <a:bodyPr/>
          <a:lstStyle/>
          <a:p>
            <a:endParaRPr lang="en-IN"/>
          </a:p>
        </p:txBody>
      </p:sp>
      <p:sp>
        <p:nvSpPr>
          <p:cNvPr id="3" name="Text 1"/>
          <p:cNvSpPr/>
          <p:nvPr/>
        </p:nvSpPr>
        <p:spPr>
          <a:xfrm>
            <a:off x="365760" y="109728"/>
            <a:ext cx="8412480" cy="603504"/>
          </a:xfrm>
          <a:prstGeom prst="rect">
            <a:avLst/>
          </a:prstGeom>
          <a:noFill/>
          <a:ln/>
        </p:spPr>
        <p:txBody>
          <a:bodyPr wrap="square" rtlCol="0" anchor="ctr"/>
          <a:lstStyle/>
          <a:p>
            <a:pPr marL="0" indent="0">
              <a:buNone/>
            </a:pPr>
            <a:r>
              <a:rPr lang="en-US" sz="2600" b="1" dirty="0">
                <a:solidFill>
                  <a:srgbClr val="FFFFFF"/>
                </a:solidFill>
              </a:rPr>
              <a:t>Objective</a:t>
            </a:r>
            <a:endParaRPr lang="en-US" sz="2600" dirty="0"/>
          </a:p>
        </p:txBody>
      </p:sp>
      <p:sp>
        <p:nvSpPr>
          <p:cNvPr id="4" name="Shape 2"/>
          <p:cNvSpPr/>
          <p:nvPr/>
        </p:nvSpPr>
        <p:spPr>
          <a:xfrm>
            <a:off x="365760" y="1005840"/>
            <a:ext cx="8412480" cy="1051560"/>
          </a:xfrm>
          <a:prstGeom prst="rect">
            <a:avLst/>
          </a:prstGeom>
          <a:solidFill>
            <a:srgbClr val="D6EAF8"/>
          </a:solidFill>
          <a:ln/>
          <a:effectLst>
            <a:outerShdw blurRad="101600" dist="38100" dir="8100000" algn="bl" rotWithShape="0">
              <a:srgbClr val="000000">
                <a:alpha val="10000"/>
              </a:srgbClr>
            </a:outerShdw>
          </a:effectLst>
        </p:spPr>
        <p:txBody>
          <a:bodyPr/>
          <a:lstStyle/>
          <a:p>
            <a:endParaRPr lang="en-IN"/>
          </a:p>
        </p:txBody>
      </p:sp>
      <p:sp>
        <p:nvSpPr>
          <p:cNvPr id="5" name="Shape 3"/>
          <p:cNvSpPr/>
          <p:nvPr/>
        </p:nvSpPr>
        <p:spPr>
          <a:xfrm>
            <a:off x="365760" y="1005840"/>
            <a:ext cx="91440" cy="1051560"/>
          </a:xfrm>
          <a:prstGeom prst="rect">
            <a:avLst/>
          </a:prstGeom>
          <a:solidFill>
            <a:srgbClr val="3498DB"/>
          </a:solidFill>
          <a:ln/>
        </p:spPr>
        <p:txBody>
          <a:bodyPr/>
          <a:lstStyle/>
          <a:p>
            <a:endParaRPr lang="en-IN"/>
          </a:p>
        </p:txBody>
      </p:sp>
      <p:sp>
        <p:nvSpPr>
          <p:cNvPr id="6" name="Text 4"/>
          <p:cNvSpPr/>
          <p:nvPr/>
        </p:nvSpPr>
        <p:spPr>
          <a:xfrm>
            <a:off x="594360" y="1078992"/>
            <a:ext cx="7955280" cy="292608"/>
          </a:xfrm>
          <a:prstGeom prst="rect">
            <a:avLst/>
          </a:prstGeom>
          <a:noFill/>
          <a:ln/>
        </p:spPr>
        <p:txBody>
          <a:bodyPr wrap="square" rtlCol="0" anchor="ctr"/>
          <a:lstStyle/>
          <a:p>
            <a:pPr marL="0" indent="0">
              <a:buNone/>
            </a:pPr>
            <a:r>
              <a:rPr lang="en-US" sz="1300" b="1" dirty="0">
                <a:solidFill>
                  <a:srgbClr val="2C3E50"/>
                </a:solidFill>
              </a:rPr>
              <a:t>What is the Problem?</a:t>
            </a:r>
            <a:endParaRPr lang="en-US" sz="1300" dirty="0"/>
          </a:p>
        </p:txBody>
      </p:sp>
      <p:sp>
        <p:nvSpPr>
          <p:cNvPr id="7" name="Text 5"/>
          <p:cNvSpPr/>
          <p:nvPr/>
        </p:nvSpPr>
        <p:spPr>
          <a:xfrm>
            <a:off x="594360" y="1389888"/>
            <a:ext cx="7955280" cy="594360"/>
          </a:xfrm>
          <a:prstGeom prst="rect">
            <a:avLst/>
          </a:prstGeom>
          <a:noFill/>
          <a:ln/>
        </p:spPr>
        <p:txBody>
          <a:bodyPr wrap="square" rtlCol="0" anchor="ctr"/>
          <a:lstStyle/>
          <a:p>
            <a:pPr marL="0" indent="0">
              <a:buNone/>
            </a:pPr>
            <a:r>
              <a:rPr lang="en-US" sz="1200" dirty="0">
                <a:solidFill>
                  <a:srgbClr val="7F8C8D"/>
                </a:solidFill>
              </a:rPr>
              <a:t>Farmers today waste a lot of water because they irrigate on a fixed schedule, without checking if the plants actually need water at that time.</a:t>
            </a:r>
            <a:endParaRPr lang="en-US" sz="1200" dirty="0"/>
          </a:p>
        </p:txBody>
      </p:sp>
      <p:sp>
        <p:nvSpPr>
          <p:cNvPr id="8" name="Shape 6"/>
          <p:cNvSpPr/>
          <p:nvPr/>
        </p:nvSpPr>
        <p:spPr>
          <a:xfrm>
            <a:off x="365760" y="2240280"/>
            <a:ext cx="8412480" cy="1051560"/>
          </a:xfrm>
          <a:prstGeom prst="rect">
            <a:avLst/>
          </a:prstGeom>
          <a:solidFill>
            <a:srgbClr val="D5F5E3"/>
          </a:solidFill>
          <a:ln/>
          <a:effectLst>
            <a:outerShdw blurRad="101600" dist="38100" dir="8100000" algn="bl" rotWithShape="0">
              <a:srgbClr val="000000">
                <a:alpha val="10000"/>
              </a:srgbClr>
            </a:outerShdw>
          </a:effectLst>
        </p:spPr>
        <p:txBody>
          <a:bodyPr/>
          <a:lstStyle/>
          <a:p>
            <a:endParaRPr lang="en-IN"/>
          </a:p>
        </p:txBody>
      </p:sp>
      <p:sp>
        <p:nvSpPr>
          <p:cNvPr id="9" name="Shape 7"/>
          <p:cNvSpPr/>
          <p:nvPr/>
        </p:nvSpPr>
        <p:spPr>
          <a:xfrm>
            <a:off x="365760" y="2240280"/>
            <a:ext cx="91440" cy="1051560"/>
          </a:xfrm>
          <a:prstGeom prst="rect">
            <a:avLst/>
          </a:prstGeom>
          <a:solidFill>
            <a:srgbClr val="2ECC71"/>
          </a:solidFill>
          <a:ln/>
        </p:spPr>
        <p:txBody>
          <a:bodyPr/>
          <a:lstStyle/>
          <a:p>
            <a:endParaRPr lang="en-IN"/>
          </a:p>
        </p:txBody>
      </p:sp>
      <p:sp>
        <p:nvSpPr>
          <p:cNvPr id="10" name="Text 8"/>
          <p:cNvSpPr/>
          <p:nvPr/>
        </p:nvSpPr>
        <p:spPr>
          <a:xfrm>
            <a:off x="594360" y="2313432"/>
            <a:ext cx="7955280" cy="292608"/>
          </a:xfrm>
          <a:prstGeom prst="rect">
            <a:avLst/>
          </a:prstGeom>
          <a:noFill/>
          <a:ln/>
        </p:spPr>
        <p:txBody>
          <a:bodyPr wrap="square" rtlCol="0" anchor="ctr"/>
          <a:lstStyle/>
          <a:p>
            <a:pPr marL="0" indent="0">
              <a:buNone/>
            </a:pPr>
            <a:r>
              <a:rPr lang="en-US" sz="1300" b="1" dirty="0">
                <a:solidFill>
                  <a:srgbClr val="2C3E50"/>
                </a:solidFill>
              </a:rPr>
              <a:t>What did we Build?</a:t>
            </a:r>
            <a:endParaRPr lang="en-US" sz="1300" dirty="0"/>
          </a:p>
        </p:txBody>
      </p:sp>
      <p:sp>
        <p:nvSpPr>
          <p:cNvPr id="11" name="Text 9"/>
          <p:cNvSpPr/>
          <p:nvPr/>
        </p:nvSpPr>
        <p:spPr>
          <a:xfrm>
            <a:off x="594360" y="2624328"/>
            <a:ext cx="7955280" cy="594360"/>
          </a:xfrm>
          <a:prstGeom prst="rect">
            <a:avLst/>
          </a:prstGeom>
          <a:noFill/>
          <a:ln/>
        </p:spPr>
        <p:txBody>
          <a:bodyPr wrap="square" rtlCol="0" anchor="ctr"/>
          <a:lstStyle/>
          <a:p>
            <a:pPr marL="0" indent="0">
              <a:buNone/>
            </a:pPr>
            <a:r>
              <a:rPr lang="en-US" sz="1200" dirty="0">
                <a:solidFill>
                  <a:srgbClr val="7F8C8D"/>
                </a:solidFill>
              </a:rPr>
              <a:t>An IoT-based smart irrigation system that reads weather conditions and sunlight levels in real time, and decides when and how much to water — automatically.</a:t>
            </a:r>
            <a:endParaRPr lang="en-US" sz="1200" dirty="0"/>
          </a:p>
        </p:txBody>
      </p:sp>
      <p:sp>
        <p:nvSpPr>
          <p:cNvPr id="12" name="Shape 10"/>
          <p:cNvSpPr/>
          <p:nvPr/>
        </p:nvSpPr>
        <p:spPr>
          <a:xfrm>
            <a:off x="365760" y="3474720"/>
            <a:ext cx="8412480" cy="1051560"/>
          </a:xfrm>
          <a:prstGeom prst="rect">
            <a:avLst/>
          </a:prstGeom>
          <a:solidFill>
            <a:srgbClr val="FEF9E7"/>
          </a:solidFill>
          <a:ln/>
          <a:effectLst>
            <a:outerShdw blurRad="101600" dist="38100" dir="8100000" algn="bl" rotWithShape="0">
              <a:srgbClr val="000000">
                <a:alpha val="10000"/>
              </a:srgbClr>
            </a:outerShdw>
          </a:effectLst>
        </p:spPr>
        <p:txBody>
          <a:bodyPr/>
          <a:lstStyle/>
          <a:p>
            <a:endParaRPr lang="en-IN"/>
          </a:p>
        </p:txBody>
      </p:sp>
      <p:sp>
        <p:nvSpPr>
          <p:cNvPr id="13" name="Shape 11"/>
          <p:cNvSpPr/>
          <p:nvPr/>
        </p:nvSpPr>
        <p:spPr>
          <a:xfrm>
            <a:off x="365760" y="3474720"/>
            <a:ext cx="91440" cy="1051560"/>
          </a:xfrm>
          <a:prstGeom prst="rect">
            <a:avLst/>
          </a:prstGeom>
          <a:solidFill>
            <a:srgbClr val="F39C12"/>
          </a:solidFill>
          <a:ln/>
        </p:spPr>
        <p:txBody>
          <a:bodyPr/>
          <a:lstStyle/>
          <a:p>
            <a:endParaRPr lang="en-IN"/>
          </a:p>
        </p:txBody>
      </p:sp>
      <p:sp>
        <p:nvSpPr>
          <p:cNvPr id="14" name="Text 12"/>
          <p:cNvSpPr/>
          <p:nvPr/>
        </p:nvSpPr>
        <p:spPr>
          <a:xfrm>
            <a:off x="594360" y="3547872"/>
            <a:ext cx="7955280" cy="292608"/>
          </a:xfrm>
          <a:prstGeom prst="rect">
            <a:avLst/>
          </a:prstGeom>
          <a:noFill/>
          <a:ln/>
        </p:spPr>
        <p:txBody>
          <a:bodyPr wrap="square" rtlCol="0" anchor="ctr"/>
          <a:lstStyle/>
          <a:p>
            <a:pPr marL="0" indent="0">
              <a:buNone/>
            </a:pPr>
            <a:r>
              <a:rPr lang="en-US" sz="1300" b="1" dirty="0">
                <a:solidFill>
                  <a:srgbClr val="2C3E50"/>
                </a:solidFill>
              </a:rPr>
              <a:t>What is the Result?</a:t>
            </a:r>
            <a:endParaRPr lang="en-US" sz="1300" dirty="0"/>
          </a:p>
        </p:txBody>
      </p:sp>
      <p:sp>
        <p:nvSpPr>
          <p:cNvPr id="15" name="Text 13"/>
          <p:cNvSpPr/>
          <p:nvPr/>
        </p:nvSpPr>
        <p:spPr>
          <a:xfrm>
            <a:off x="594360" y="3858768"/>
            <a:ext cx="7955280" cy="594360"/>
          </a:xfrm>
          <a:prstGeom prst="rect">
            <a:avLst/>
          </a:prstGeom>
          <a:noFill/>
          <a:ln/>
        </p:spPr>
        <p:txBody>
          <a:bodyPr wrap="square" rtlCol="0" anchor="ctr"/>
          <a:lstStyle/>
          <a:p>
            <a:pPr marL="0" indent="0">
              <a:buNone/>
            </a:pPr>
            <a:r>
              <a:rPr lang="en-US" sz="1200" dirty="0">
                <a:solidFill>
                  <a:srgbClr val="7F8C8D"/>
                </a:solidFill>
              </a:rPr>
              <a:t>Our system saves up to 33% water compared to traditional methods, protects the pump from damage, and can be monitored from a phone or computer.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498DB"/>
          </a:solidFill>
          <a:ln/>
        </p:spPr>
        <p:txBody>
          <a:bodyPr/>
          <a:lstStyle/>
          <a:p>
            <a:endParaRPr lang="en-IN"/>
          </a:p>
        </p:txBody>
      </p:sp>
      <p:sp>
        <p:nvSpPr>
          <p:cNvPr id="3" name="Text 1"/>
          <p:cNvSpPr/>
          <p:nvPr/>
        </p:nvSpPr>
        <p:spPr>
          <a:xfrm>
            <a:off x="365760" y="109728"/>
            <a:ext cx="8412480" cy="603504"/>
          </a:xfrm>
          <a:prstGeom prst="rect">
            <a:avLst/>
          </a:prstGeom>
          <a:noFill/>
          <a:ln/>
        </p:spPr>
        <p:txBody>
          <a:bodyPr wrap="square" rtlCol="0" anchor="ctr"/>
          <a:lstStyle/>
          <a:p>
            <a:pPr marL="0" indent="0">
              <a:buNone/>
            </a:pPr>
            <a:r>
              <a:rPr lang="en-US" sz="2200" b="1" dirty="0">
                <a:solidFill>
                  <a:srgbClr val="FFFFFF"/>
                </a:solidFill>
              </a:rPr>
              <a:t>HOW THE SYSTEM </a:t>
            </a:r>
            <a:r>
              <a:rPr lang="en-US" sz="2200" b="1">
                <a:solidFill>
                  <a:srgbClr val="FFFFFF"/>
                </a:solidFill>
              </a:rPr>
              <a:t>WORKS </a:t>
            </a:r>
            <a:endParaRPr lang="en-US" sz="2200" dirty="0"/>
          </a:p>
        </p:txBody>
      </p:sp>
      <p:sp>
        <p:nvSpPr>
          <p:cNvPr id="4" name="Shape 2"/>
          <p:cNvSpPr/>
          <p:nvPr/>
        </p:nvSpPr>
        <p:spPr>
          <a:xfrm>
            <a:off x="274320" y="1005840"/>
            <a:ext cx="2834640" cy="3840480"/>
          </a:xfrm>
          <a:prstGeom prst="rect">
            <a:avLst/>
          </a:prstGeom>
          <a:solidFill>
            <a:srgbClr val="F8FFFE"/>
          </a:solidFill>
          <a:ln/>
          <a:effectLst>
            <a:outerShdw blurRad="101600" dist="38100" dir="8100000" algn="bl" rotWithShape="0">
              <a:srgbClr val="000000">
                <a:alpha val="10000"/>
              </a:srgbClr>
            </a:outerShdw>
          </a:effectLst>
        </p:spPr>
        <p:txBody>
          <a:bodyPr/>
          <a:lstStyle/>
          <a:p>
            <a:endParaRPr lang="en-IN"/>
          </a:p>
        </p:txBody>
      </p:sp>
      <p:sp>
        <p:nvSpPr>
          <p:cNvPr id="5" name="Shape 3"/>
          <p:cNvSpPr/>
          <p:nvPr/>
        </p:nvSpPr>
        <p:spPr>
          <a:xfrm>
            <a:off x="274320" y="1005840"/>
            <a:ext cx="2834640" cy="548640"/>
          </a:xfrm>
          <a:prstGeom prst="rect">
            <a:avLst/>
          </a:prstGeom>
          <a:solidFill>
            <a:srgbClr val="00B0F0"/>
          </a:solidFill>
          <a:ln/>
        </p:spPr>
        <p:txBody>
          <a:bodyPr/>
          <a:lstStyle/>
          <a:p>
            <a:endParaRPr lang="en-IN"/>
          </a:p>
        </p:txBody>
      </p:sp>
      <p:sp>
        <p:nvSpPr>
          <p:cNvPr id="6" name="Text 4"/>
          <p:cNvSpPr/>
          <p:nvPr/>
        </p:nvSpPr>
        <p:spPr>
          <a:xfrm>
            <a:off x="365760" y="1051560"/>
            <a:ext cx="1188720" cy="457200"/>
          </a:xfrm>
          <a:prstGeom prst="rect">
            <a:avLst/>
          </a:prstGeom>
          <a:noFill/>
          <a:ln/>
        </p:spPr>
        <p:txBody>
          <a:bodyPr wrap="square" rtlCol="0" anchor="ctr"/>
          <a:lstStyle/>
          <a:p>
            <a:pPr marL="0" indent="0">
              <a:buNone/>
            </a:pPr>
            <a:r>
              <a:rPr lang="en-US" sz="1300" b="1" dirty="0">
                <a:solidFill>
                  <a:srgbClr val="FFFFFF"/>
                </a:solidFill>
              </a:rPr>
              <a:t>STEP 1</a:t>
            </a:r>
            <a:endParaRPr lang="en-US" sz="1300" dirty="0"/>
          </a:p>
        </p:txBody>
      </p:sp>
      <p:sp>
        <p:nvSpPr>
          <p:cNvPr id="7" name="Text 5"/>
          <p:cNvSpPr/>
          <p:nvPr/>
        </p:nvSpPr>
        <p:spPr>
          <a:xfrm>
            <a:off x="274320" y="1508758"/>
            <a:ext cx="2834640" cy="411480"/>
          </a:xfrm>
          <a:prstGeom prst="rect">
            <a:avLst/>
          </a:prstGeom>
          <a:noFill/>
          <a:ln/>
        </p:spPr>
        <p:txBody>
          <a:bodyPr wrap="square" rtlCol="0" anchor="ctr"/>
          <a:lstStyle/>
          <a:p>
            <a:pPr marL="0" indent="0" algn="ctr">
              <a:buNone/>
            </a:pPr>
            <a:r>
              <a:rPr lang="en-US" sz="1300" b="1" dirty="0">
                <a:solidFill>
                  <a:srgbClr val="2C3E50"/>
                </a:solidFill>
              </a:rPr>
              <a:t>Sense</a:t>
            </a:r>
            <a:endParaRPr lang="en-US" sz="1300" dirty="0"/>
          </a:p>
        </p:txBody>
      </p:sp>
      <p:sp>
        <p:nvSpPr>
          <p:cNvPr id="8" name="Shape 6"/>
          <p:cNvSpPr/>
          <p:nvPr/>
        </p:nvSpPr>
        <p:spPr>
          <a:xfrm>
            <a:off x="548640" y="1923050"/>
            <a:ext cx="2286000" cy="36576"/>
          </a:xfrm>
          <a:prstGeom prst="rect">
            <a:avLst/>
          </a:prstGeom>
          <a:solidFill>
            <a:srgbClr val="ECF0F1"/>
          </a:solidFill>
          <a:ln/>
        </p:spPr>
        <p:txBody>
          <a:bodyPr/>
          <a:lstStyle/>
          <a:p>
            <a:endParaRPr lang="en-IN"/>
          </a:p>
        </p:txBody>
      </p:sp>
      <p:sp>
        <p:nvSpPr>
          <p:cNvPr id="9" name="Text 7"/>
          <p:cNvSpPr/>
          <p:nvPr/>
        </p:nvSpPr>
        <p:spPr>
          <a:xfrm>
            <a:off x="594360" y="3385392"/>
            <a:ext cx="2468880" cy="2286000"/>
          </a:xfrm>
          <a:prstGeom prst="rect">
            <a:avLst/>
          </a:prstGeom>
          <a:noFill/>
          <a:ln/>
        </p:spPr>
        <p:txBody>
          <a:bodyPr wrap="square" rtlCol="0" anchor="ctr"/>
          <a:lstStyle/>
          <a:p>
            <a:pPr marL="0" indent="0">
              <a:buNone/>
            </a:pPr>
            <a:r>
              <a:rPr lang="en-US" sz="1150" dirty="0">
                <a:solidFill>
                  <a:srgbClr val="7F8C8D"/>
                </a:solidFill>
              </a:rPr>
              <a:t>Sensors collect temperature, humidity, sunlight, and soil moisture data every 5 minutes from the farm</a:t>
            </a:r>
            <a:endParaRPr lang="en-US" sz="1150" dirty="0"/>
          </a:p>
        </p:txBody>
      </p:sp>
      <p:sp>
        <p:nvSpPr>
          <p:cNvPr id="10" name="Shape 8"/>
          <p:cNvSpPr/>
          <p:nvPr/>
        </p:nvSpPr>
        <p:spPr>
          <a:xfrm>
            <a:off x="3108960" y="2651760"/>
            <a:ext cx="320040" cy="54864"/>
          </a:xfrm>
          <a:prstGeom prst="rect">
            <a:avLst/>
          </a:prstGeom>
          <a:solidFill>
            <a:srgbClr val="7F8C8D"/>
          </a:solidFill>
          <a:ln/>
        </p:spPr>
        <p:txBody>
          <a:bodyPr/>
          <a:lstStyle/>
          <a:p>
            <a:endParaRPr lang="en-IN"/>
          </a:p>
        </p:txBody>
      </p:sp>
      <p:sp>
        <p:nvSpPr>
          <p:cNvPr id="11" name="Shape 9"/>
          <p:cNvSpPr/>
          <p:nvPr/>
        </p:nvSpPr>
        <p:spPr>
          <a:xfrm rot="5400000">
            <a:off x="3364992" y="2542032"/>
            <a:ext cx="164592" cy="274320"/>
          </a:xfrm>
          <a:prstGeom prst="rtTriangle">
            <a:avLst/>
          </a:prstGeom>
          <a:solidFill>
            <a:srgbClr val="7F8C8D"/>
          </a:solidFill>
          <a:ln/>
        </p:spPr>
        <p:txBody>
          <a:bodyPr/>
          <a:lstStyle/>
          <a:p>
            <a:endParaRPr lang="en-IN"/>
          </a:p>
        </p:txBody>
      </p:sp>
      <p:sp>
        <p:nvSpPr>
          <p:cNvPr id="12" name="Shape 10"/>
          <p:cNvSpPr/>
          <p:nvPr/>
        </p:nvSpPr>
        <p:spPr>
          <a:xfrm>
            <a:off x="3246120" y="1005840"/>
            <a:ext cx="2834640" cy="3840480"/>
          </a:xfrm>
          <a:prstGeom prst="rect">
            <a:avLst/>
          </a:prstGeom>
          <a:solidFill>
            <a:srgbClr val="F8FFFE"/>
          </a:solidFill>
          <a:ln/>
          <a:effectLst>
            <a:outerShdw blurRad="101600" dist="38100" dir="8100000" algn="bl" rotWithShape="0">
              <a:srgbClr val="000000">
                <a:alpha val="10000"/>
              </a:srgbClr>
            </a:outerShdw>
          </a:effectLst>
        </p:spPr>
        <p:txBody>
          <a:bodyPr/>
          <a:lstStyle/>
          <a:p>
            <a:endParaRPr lang="en-IN"/>
          </a:p>
        </p:txBody>
      </p:sp>
      <p:sp>
        <p:nvSpPr>
          <p:cNvPr id="13" name="Shape 11"/>
          <p:cNvSpPr/>
          <p:nvPr/>
        </p:nvSpPr>
        <p:spPr>
          <a:xfrm>
            <a:off x="3246120" y="1005840"/>
            <a:ext cx="2834640" cy="548640"/>
          </a:xfrm>
          <a:prstGeom prst="rect">
            <a:avLst/>
          </a:prstGeom>
          <a:solidFill>
            <a:srgbClr val="00B050"/>
          </a:solidFill>
          <a:ln/>
        </p:spPr>
        <p:txBody>
          <a:bodyPr/>
          <a:lstStyle/>
          <a:p>
            <a:endParaRPr lang="en-IN"/>
          </a:p>
        </p:txBody>
      </p:sp>
      <p:sp>
        <p:nvSpPr>
          <p:cNvPr id="14" name="Text 12"/>
          <p:cNvSpPr/>
          <p:nvPr/>
        </p:nvSpPr>
        <p:spPr>
          <a:xfrm>
            <a:off x="3337560" y="1051560"/>
            <a:ext cx="1188720" cy="457200"/>
          </a:xfrm>
          <a:prstGeom prst="rect">
            <a:avLst/>
          </a:prstGeom>
          <a:noFill/>
          <a:ln/>
        </p:spPr>
        <p:txBody>
          <a:bodyPr wrap="square" rtlCol="0" anchor="ctr"/>
          <a:lstStyle/>
          <a:p>
            <a:pPr marL="0" indent="0">
              <a:buNone/>
            </a:pPr>
            <a:r>
              <a:rPr lang="en-US" sz="1300" b="1" dirty="0">
                <a:solidFill>
                  <a:srgbClr val="FFFFFF"/>
                </a:solidFill>
              </a:rPr>
              <a:t>STEP 2</a:t>
            </a:r>
            <a:endParaRPr lang="en-US" sz="1300" dirty="0"/>
          </a:p>
        </p:txBody>
      </p:sp>
      <p:sp>
        <p:nvSpPr>
          <p:cNvPr id="15" name="Text 13"/>
          <p:cNvSpPr/>
          <p:nvPr/>
        </p:nvSpPr>
        <p:spPr>
          <a:xfrm>
            <a:off x="3246120" y="1508760"/>
            <a:ext cx="2834640" cy="411480"/>
          </a:xfrm>
          <a:prstGeom prst="rect">
            <a:avLst/>
          </a:prstGeom>
          <a:noFill/>
          <a:ln/>
        </p:spPr>
        <p:txBody>
          <a:bodyPr wrap="square" rtlCol="0" anchor="ctr"/>
          <a:lstStyle/>
          <a:p>
            <a:pPr marL="0" indent="0" algn="ctr">
              <a:buNone/>
            </a:pPr>
            <a:r>
              <a:rPr lang="en-US" sz="1300" b="1" dirty="0">
                <a:solidFill>
                  <a:srgbClr val="2C3E50"/>
                </a:solidFill>
              </a:rPr>
              <a:t>Think</a:t>
            </a:r>
            <a:endParaRPr lang="en-US" sz="1300" dirty="0"/>
          </a:p>
        </p:txBody>
      </p:sp>
      <p:sp>
        <p:nvSpPr>
          <p:cNvPr id="16" name="Shape 14"/>
          <p:cNvSpPr/>
          <p:nvPr/>
        </p:nvSpPr>
        <p:spPr>
          <a:xfrm>
            <a:off x="3520440" y="1930084"/>
            <a:ext cx="2286000" cy="36576"/>
          </a:xfrm>
          <a:prstGeom prst="rect">
            <a:avLst/>
          </a:prstGeom>
          <a:solidFill>
            <a:srgbClr val="ECF0F1"/>
          </a:solidFill>
          <a:ln/>
        </p:spPr>
        <p:txBody>
          <a:bodyPr/>
          <a:lstStyle/>
          <a:p>
            <a:endParaRPr lang="en-IN"/>
          </a:p>
        </p:txBody>
      </p:sp>
      <p:sp>
        <p:nvSpPr>
          <p:cNvPr id="17" name="Text 15"/>
          <p:cNvSpPr/>
          <p:nvPr/>
        </p:nvSpPr>
        <p:spPr>
          <a:xfrm>
            <a:off x="3451860" y="3236976"/>
            <a:ext cx="2468880" cy="2286000"/>
          </a:xfrm>
          <a:prstGeom prst="rect">
            <a:avLst/>
          </a:prstGeom>
          <a:noFill/>
          <a:ln/>
        </p:spPr>
        <p:txBody>
          <a:bodyPr wrap="square" rtlCol="0" anchor="ctr"/>
          <a:lstStyle/>
          <a:p>
            <a:pPr marL="0" indent="0">
              <a:buNone/>
            </a:pPr>
            <a:r>
              <a:rPr lang="en-US" sz="1150" dirty="0">
                <a:solidFill>
                  <a:srgbClr val="7F8C8D"/>
                </a:solidFill>
              </a:rPr>
              <a:t>The ESP32-S3 microcontroller processes the data, calculates plant water need, and decides when to irrigate</a:t>
            </a:r>
            <a:endParaRPr lang="en-US" sz="1150" dirty="0"/>
          </a:p>
        </p:txBody>
      </p:sp>
      <p:sp>
        <p:nvSpPr>
          <p:cNvPr id="18" name="Shape 16"/>
          <p:cNvSpPr/>
          <p:nvPr/>
        </p:nvSpPr>
        <p:spPr>
          <a:xfrm>
            <a:off x="6080760" y="2651760"/>
            <a:ext cx="320040" cy="54864"/>
          </a:xfrm>
          <a:prstGeom prst="rect">
            <a:avLst/>
          </a:prstGeom>
          <a:solidFill>
            <a:srgbClr val="7F8C8D"/>
          </a:solidFill>
          <a:ln/>
        </p:spPr>
        <p:txBody>
          <a:bodyPr/>
          <a:lstStyle/>
          <a:p>
            <a:endParaRPr lang="en-IN"/>
          </a:p>
        </p:txBody>
      </p:sp>
      <p:sp>
        <p:nvSpPr>
          <p:cNvPr id="19" name="Shape 17"/>
          <p:cNvSpPr/>
          <p:nvPr/>
        </p:nvSpPr>
        <p:spPr>
          <a:xfrm rot="5400000">
            <a:off x="6336792" y="2542032"/>
            <a:ext cx="164592" cy="274320"/>
          </a:xfrm>
          <a:prstGeom prst="rtTriangle">
            <a:avLst/>
          </a:prstGeom>
          <a:solidFill>
            <a:srgbClr val="7F8C8D"/>
          </a:solidFill>
          <a:ln/>
        </p:spPr>
        <p:txBody>
          <a:bodyPr/>
          <a:lstStyle/>
          <a:p>
            <a:endParaRPr lang="en-IN"/>
          </a:p>
        </p:txBody>
      </p:sp>
      <p:sp>
        <p:nvSpPr>
          <p:cNvPr id="20" name="Shape 18"/>
          <p:cNvSpPr/>
          <p:nvPr/>
        </p:nvSpPr>
        <p:spPr>
          <a:xfrm>
            <a:off x="6217920" y="1005840"/>
            <a:ext cx="2834640" cy="3840480"/>
          </a:xfrm>
          <a:prstGeom prst="rect">
            <a:avLst/>
          </a:prstGeom>
          <a:solidFill>
            <a:srgbClr val="F8FFFE"/>
          </a:solidFill>
          <a:ln/>
          <a:effectLst>
            <a:outerShdw blurRad="101600" dist="38100" dir="8100000" algn="bl" rotWithShape="0">
              <a:srgbClr val="000000">
                <a:alpha val="10000"/>
              </a:srgbClr>
            </a:outerShdw>
          </a:effectLst>
        </p:spPr>
        <p:txBody>
          <a:bodyPr/>
          <a:lstStyle/>
          <a:p>
            <a:endParaRPr lang="en-IN"/>
          </a:p>
        </p:txBody>
      </p:sp>
      <p:sp>
        <p:nvSpPr>
          <p:cNvPr id="21" name="Shape 19"/>
          <p:cNvSpPr/>
          <p:nvPr/>
        </p:nvSpPr>
        <p:spPr>
          <a:xfrm>
            <a:off x="6217920" y="1005840"/>
            <a:ext cx="2834640" cy="548640"/>
          </a:xfrm>
          <a:prstGeom prst="rect">
            <a:avLst/>
          </a:prstGeom>
          <a:solidFill>
            <a:srgbClr val="F39C12"/>
          </a:solidFill>
          <a:ln/>
        </p:spPr>
        <p:txBody>
          <a:bodyPr/>
          <a:lstStyle/>
          <a:p>
            <a:endParaRPr lang="en-IN"/>
          </a:p>
        </p:txBody>
      </p:sp>
      <p:sp>
        <p:nvSpPr>
          <p:cNvPr id="22" name="Text 20"/>
          <p:cNvSpPr/>
          <p:nvPr/>
        </p:nvSpPr>
        <p:spPr>
          <a:xfrm>
            <a:off x="6309360" y="1051560"/>
            <a:ext cx="1188720" cy="457200"/>
          </a:xfrm>
          <a:prstGeom prst="rect">
            <a:avLst/>
          </a:prstGeom>
          <a:noFill/>
          <a:ln/>
        </p:spPr>
        <p:txBody>
          <a:bodyPr wrap="square" rtlCol="0" anchor="ctr"/>
          <a:lstStyle/>
          <a:p>
            <a:pPr marL="0" indent="0">
              <a:buNone/>
            </a:pPr>
            <a:r>
              <a:rPr lang="en-US" sz="1300" b="1" dirty="0">
                <a:solidFill>
                  <a:srgbClr val="FFFFFF"/>
                </a:solidFill>
              </a:rPr>
              <a:t>STEP 3</a:t>
            </a:r>
            <a:endParaRPr lang="en-US" sz="1300" dirty="0"/>
          </a:p>
        </p:txBody>
      </p:sp>
      <p:sp>
        <p:nvSpPr>
          <p:cNvPr id="23" name="Text 21"/>
          <p:cNvSpPr/>
          <p:nvPr/>
        </p:nvSpPr>
        <p:spPr>
          <a:xfrm>
            <a:off x="6217920" y="1515087"/>
            <a:ext cx="2834640" cy="411480"/>
          </a:xfrm>
          <a:prstGeom prst="rect">
            <a:avLst/>
          </a:prstGeom>
          <a:noFill/>
          <a:ln/>
        </p:spPr>
        <p:txBody>
          <a:bodyPr wrap="square" rtlCol="0" anchor="ctr"/>
          <a:lstStyle/>
          <a:p>
            <a:pPr marL="0" indent="0" algn="ctr">
              <a:buNone/>
            </a:pPr>
            <a:r>
              <a:rPr lang="en-US" sz="1300" b="1" dirty="0">
                <a:solidFill>
                  <a:srgbClr val="2C3E50"/>
                </a:solidFill>
              </a:rPr>
              <a:t>Act &amp; Report</a:t>
            </a:r>
            <a:endParaRPr lang="en-US" sz="1300" dirty="0"/>
          </a:p>
        </p:txBody>
      </p:sp>
      <p:sp>
        <p:nvSpPr>
          <p:cNvPr id="24" name="Shape 22"/>
          <p:cNvSpPr/>
          <p:nvPr/>
        </p:nvSpPr>
        <p:spPr>
          <a:xfrm>
            <a:off x="6492240" y="1941338"/>
            <a:ext cx="2286000" cy="36576"/>
          </a:xfrm>
          <a:prstGeom prst="rect">
            <a:avLst/>
          </a:prstGeom>
          <a:solidFill>
            <a:srgbClr val="ECF0F1"/>
          </a:solidFill>
          <a:ln/>
        </p:spPr>
        <p:txBody>
          <a:bodyPr/>
          <a:lstStyle/>
          <a:p>
            <a:endParaRPr lang="en-IN"/>
          </a:p>
        </p:txBody>
      </p:sp>
      <p:sp>
        <p:nvSpPr>
          <p:cNvPr id="25" name="Text 23"/>
          <p:cNvSpPr/>
          <p:nvPr/>
        </p:nvSpPr>
        <p:spPr>
          <a:xfrm>
            <a:off x="6400800" y="3244010"/>
            <a:ext cx="2468880" cy="2286000"/>
          </a:xfrm>
          <a:prstGeom prst="rect">
            <a:avLst/>
          </a:prstGeom>
          <a:noFill/>
          <a:ln/>
        </p:spPr>
        <p:txBody>
          <a:bodyPr wrap="square" rtlCol="0" anchor="ctr"/>
          <a:lstStyle/>
          <a:p>
            <a:pPr marL="0" indent="0">
              <a:buNone/>
            </a:pPr>
            <a:r>
              <a:rPr lang="en-US" sz="1150" dirty="0">
                <a:solidFill>
                  <a:srgbClr val="7F8C8D"/>
                </a:solidFill>
              </a:rPr>
              <a:t>The pump is turned on/off automatically. Data is sent to a cloud dashboard viewable on phone or browser</a:t>
            </a:r>
            <a:endParaRPr lang="en-US" sz="1150" dirty="0"/>
          </a:p>
        </p:txBody>
      </p:sp>
      <p:pic>
        <p:nvPicPr>
          <p:cNvPr id="29" name="Picture 28">
            <a:extLst>
              <a:ext uri="{FF2B5EF4-FFF2-40B4-BE49-F238E27FC236}">
                <a16:creationId xmlns:a16="http://schemas.microsoft.com/office/drawing/2014/main" id="{F2AC4B22-7B19-7953-53C0-8C077F8FCF9D}"/>
              </a:ext>
            </a:extLst>
          </p:cNvPr>
          <p:cNvPicPr>
            <a:picLocks noChangeAspect="1"/>
          </p:cNvPicPr>
          <p:nvPr/>
        </p:nvPicPr>
        <p:blipFill>
          <a:blip r:embed="rId3"/>
          <a:srcRect t="17447" b="5499"/>
          <a:stretch>
            <a:fillRect/>
          </a:stretch>
        </p:blipFill>
        <p:spPr>
          <a:xfrm>
            <a:off x="143786" y="1979147"/>
            <a:ext cx="3021792" cy="2210208"/>
          </a:xfrm>
          <a:prstGeom prst="rect">
            <a:avLst/>
          </a:prstGeom>
        </p:spPr>
      </p:pic>
      <p:pic>
        <p:nvPicPr>
          <p:cNvPr id="31" name="Picture 30">
            <a:extLst>
              <a:ext uri="{FF2B5EF4-FFF2-40B4-BE49-F238E27FC236}">
                <a16:creationId xmlns:a16="http://schemas.microsoft.com/office/drawing/2014/main" id="{7D870116-7041-24CC-7A6B-C123B111BA28}"/>
              </a:ext>
            </a:extLst>
          </p:cNvPr>
          <p:cNvPicPr>
            <a:picLocks noChangeAspect="1"/>
          </p:cNvPicPr>
          <p:nvPr/>
        </p:nvPicPr>
        <p:blipFill>
          <a:blip r:embed="rId4"/>
          <a:srcRect l="8959" t="1943" r="2735" b="2972"/>
          <a:stretch>
            <a:fillRect/>
          </a:stretch>
        </p:blipFill>
        <p:spPr>
          <a:xfrm>
            <a:off x="3545803" y="2120704"/>
            <a:ext cx="2262706" cy="1793631"/>
          </a:xfrm>
          <a:prstGeom prst="rect">
            <a:avLst/>
          </a:prstGeom>
        </p:spPr>
      </p:pic>
      <p:pic>
        <p:nvPicPr>
          <p:cNvPr id="26" name="Picture 25">
            <a:extLst>
              <a:ext uri="{FF2B5EF4-FFF2-40B4-BE49-F238E27FC236}">
                <a16:creationId xmlns:a16="http://schemas.microsoft.com/office/drawing/2014/main" id="{01B048C9-15A7-80DD-A17F-A84A9166911D}"/>
              </a:ext>
            </a:extLst>
          </p:cNvPr>
          <p:cNvPicPr>
            <a:picLocks noChangeAspect="1"/>
          </p:cNvPicPr>
          <p:nvPr/>
        </p:nvPicPr>
        <p:blipFill>
          <a:blip r:embed="rId5" cstate="print">
            <a:extLst>
              <a:ext uri="{28A0092B-C50C-407E-A947-70E740481C1C}">
                <a14:useLocalDpi xmlns:a14="http://schemas.microsoft.com/office/drawing/2010/main" val="0"/>
              </a:ext>
            </a:extLst>
          </a:blip>
          <a:srcRect t="10236"/>
          <a:stretch>
            <a:fillRect/>
          </a:stretch>
        </p:blipFill>
        <p:spPr>
          <a:xfrm>
            <a:off x="6492240" y="2160794"/>
            <a:ext cx="2313961" cy="16092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9E57"/>
          </a:solidFill>
          <a:ln/>
        </p:spPr>
        <p:txBody>
          <a:bodyPr/>
          <a:lstStyle/>
          <a:p>
            <a:endParaRPr lang="en-IN"/>
          </a:p>
        </p:txBody>
      </p:sp>
      <p:sp>
        <p:nvSpPr>
          <p:cNvPr id="3" name="Text 1"/>
          <p:cNvSpPr/>
          <p:nvPr/>
        </p:nvSpPr>
        <p:spPr>
          <a:xfrm>
            <a:off x="365760" y="109728"/>
            <a:ext cx="8412480" cy="603504"/>
          </a:xfrm>
          <a:prstGeom prst="rect">
            <a:avLst/>
          </a:prstGeom>
          <a:noFill/>
          <a:ln/>
        </p:spPr>
        <p:txBody>
          <a:bodyPr wrap="square" rtlCol="0" anchor="ctr"/>
          <a:lstStyle/>
          <a:p>
            <a:pPr marL="0" indent="0">
              <a:buNone/>
            </a:pPr>
            <a:r>
              <a:rPr lang="en-US" sz="2200" b="1" dirty="0">
                <a:solidFill>
                  <a:srgbClr val="FFFFFF"/>
                </a:solidFill>
              </a:rPr>
              <a:t>HARDWARE COMPONENTS USED</a:t>
            </a:r>
            <a:endParaRPr lang="en-US" sz="2200" dirty="0"/>
          </a:p>
        </p:txBody>
      </p:sp>
      <p:sp>
        <p:nvSpPr>
          <p:cNvPr id="4" name="Shape 2"/>
          <p:cNvSpPr/>
          <p:nvPr/>
        </p:nvSpPr>
        <p:spPr>
          <a:xfrm>
            <a:off x="274320" y="1005840"/>
            <a:ext cx="2743200" cy="16916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5" name="Shape 3"/>
          <p:cNvSpPr/>
          <p:nvPr/>
        </p:nvSpPr>
        <p:spPr>
          <a:xfrm>
            <a:off x="274320" y="1005840"/>
            <a:ext cx="2743200" cy="457200"/>
          </a:xfrm>
          <a:prstGeom prst="rect">
            <a:avLst/>
          </a:prstGeom>
          <a:solidFill>
            <a:srgbClr val="2ECC71"/>
          </a:solidFill>
          <a:ln/>
        </p:spPr>
        <p:txBody>
          <a:bodyPr/>
          <a:lstStyle/>
          <a:p>
            <a:endParaRPr lang="en-IN"/>
          </a:p>
        </p:txBody>
      </p:sp>
      <p:sp>
        <p:nvSpPr>
          <p:cNvPr id="6" name="Text 4"/>
          <p:cNvSpPr/>
          <p:nvPr/>
        </p:nvSpPr>
        <p:spPr>
          <a:xfrm>
            <a:off x="365760" y="1060704"/>
            <a:ext cx="2560320" cy="347472"/>
          </a:xfrm>
          <a:prstGeom prst="rect">
            <a:avLst/>
          </a:prstGeom>
          <a:noFill/>
          <a:ln/>
        </p:spPr>
        <p:txBody>
          <a:bodyPr wrap="square" rtlCol="0" anchor="ctr"/>
          <a:lstStyle/>
          <a:p>
            <a:pPr marL="0" indent="0">
              <a:buNone/>
            </a:pPr>
            <a:r>
              <a:rPr lang="en-US" sz="1400" b="1" dirty="0">
                <a:solidFill>
                  <a:srgbClr val="FFFFFF"/>
                </a:solidFill>
              </a:rPr>
              <a:t>ESP32-S3</a:t>
            </a:r>
            <a:endParaRPr lang="en-US" sz="1400" dirty="0"/>
          </a:p>
        </p:txBody>
      </p:sp>
      <p:sp>
        <p:nvSpPr>
          <p:cNvPr id="7" name="Text 5"/>
          <p:cNvSpPr/>
          <p:nvPr/>
        </p:nvSpPr>
        <p:spPr>
          <a:xfrm>
            <a:off x="365760" y="1536192"/>
            <a:ext cx="2560320" cy="292608"/>
          </a:xfrm>
          <a:prstGeom prst="rect">
            <a:avLst/>
          </a:prstGeom>
          <a:noFill/>
          <a:ln/>
        </p:spPr>
        <p:txBody>
          <a:bodyPr wrap="square" rtlCol="0" anchor="ctr"/>
          <a:lstStyle/>
          <a:p>
            <a:pPr marL="0" indent="0">
              <a:buNone/>
            </a:pPr>
            <a:r>
              <a:rPr lang="en-US" sz="1150" b="1" dirty="0">
                <a:solidFill>
                  <a:srgbClr val="2C3E50"/>
                </a:solidFill>
              </a:rPr>
              <a:t>Brain (Microcontroller)</a:t>
            </a:r>
            <a:endParaRPr lang="en-US" sz="1150" dirty="0"/>
          </a:p>
        </p:txBody>
      </p:sp>
      <p:sp>
        <p:nvSpPr>
          <p:cNvPr id="8" name="Text 6"/>
          <p:cNvSpPr/>
          <p:nvPr/>
        </p:nvSpPr>
        <p:spPr>
          <a:xfrm>
            <a:off x="365760" y="1856232"/>
            <a:ext cx="2560320" cy="731520"/>
          </a:xfrm>
          <a:prstGeom prst="rect">
            <a:avLst/>
          </a:prstGeom>
          <a:noFill/>
          <a:ln/>
        </p:spPr>
        <p:txBody>
          <a:bodyPr wrap="square" rtlCol="0" anchor="ctr"/>
          <a:lstStyle/>
          <a:p>
            <a:pPr marL="0" indent="0">
              <a:buNone/>
            </a:pPr>
            <a:r>
              <a:rPr lang="en-US" sz="1050" dirty="0">
                <a:solidFill>
                  <a:srgbClr val="7F8C8D"/>
                </a:solidFill>
              </a:rPr>
              <a:t>Processes all data and controls the pump. Has built-in Wi-Fi to send data to cloud.</a:t>
            </a:r>
            <a:endParaRPr lang="en-US" sz="1050" dirty="0"/>
          </a:p>
        </p:txBody>
      </p:sp>
      <p:sp>
        <p:nvSpPr>
          <p:cNvPr id="9" name="Shape 7"/>
          <p:cNvSpPr/>
          <p:nvPr/>
        </p:nvSpPr>
        <p:spPr>
          <a:xfrm>
            <a:off x="3218688" y="1005840"/>
            <a:ext cx="2743200" cy="16916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0" name="Shape 8"/>
          <p:cNvSpPr/>
          <p:nvPr/>
        </p:nvSpPr>
        <p:spPr>
          <a:xfrm>
            <a:off x="3218688" y="1005840"/>
            <a:ext cx="2743200" cy="457200"/>
          </a:xfrm>
          <a:prstGeom prst="rect">
            <a:avLst/>
          </a:prstGeom>
          <a:solidFill>
            <a:srgbClr val="3498DB"/>
          </a:solidFill>
          <a:ln/>
        </p:spPr>
        <p:txBody>
          <a:bodyPr/>
          <a:lstStyle/>
          <a:p>
            <a:endParaRPr lang="en-IN"/>
          </a:p>
        </p:txBody>
      </p:sp>
      <p:sp>
        <p:nvSpPr>
          <p:cNvPr id="11" name="Text 9"/>
          <p:cNvSpPr/>
          <p:nvPr/>
        </p:nvSpPr>
        <p:spPr>
          <a:xfrm>
            <a:off x="3310128" y="1060704"/>
            <a:ext cx="2560320" cy="347472"/>
          </a:xfrm>
          <a:prstGeom prst="rect">
            <a:avLst/>
          </a:prstGeom>
          <a:noFill/>
          <a:ln/>
        </p:spPr>
        <p:txBody>
          <a:bodyPr wrap="square" rtlCol="0" anchor="ctr"/>
          <a:lstStyle/>
          <a:p>
            <a:pPr marL="0" indent="0">
              <a:buNone/>
            </a:pPr>
            <a:r>
              <a:rPr lang="en-US" sz="1400" b="1" dirty="0">
                <a:solidFill>
                  <a:srgbClr val="FFFFFF"/>
                </a:solidFill>
              </a:rPr>
              <a:t>BME280</a:t>
            </a:r>
            <a:endParaRPr lang="en-US" sz="1400" dirty="0"/>
          </a:p>
        </p:txBody>
      </p:sp>
      <p:sp>
        <p:nvSpPr>
          <p:cNvPr id="12" name="Text 10"/>
          <p:cNvSpPr/>
          <p:nvPr/>
        </p:nvSpPr>
        <p:spPr>
          <a:xfrm>
            <a:off x="3310128" y="1536192"/>
            <a:ext cx="2560320" cy="292608"/>
          </a:xfrm>
          <a:prstGeom prst="rect">
            <a:avLst/>
          </a:prstGeom>
          <a:noFill/>
          <a:ln/>
        </p:spPr>
        <p:txBody>
          <a:bodyPr wrap="square" rtlCol="0" anchor="ctr"/>
          <a:lstStyle/>
          <a:p>
            <a:pPr marL="0" indent="0">
              <a:buNone/>
            </a:pPr>
            <a:r>
              <a:rPr lang="en-US" sz="1150" b="1" dirty="0">
                <a:solidFill>
                  <a:srgbClr val="2C3E50"/>
                </a:solidFill>
              </a:rPr>
              <a:t>Weather Sensor</a:t>
            </a:r>
            <a:endParaRPr lang="en-US" sz="1150" dirty="0"/>
          </a:p>
        </p:txBody>
      </p:sp>
      <p:sp>
        <p:nvSpPr>
          <p:cNvPr id="13" name="Text 11"/>
          <p:cNvSpPr/>
          <p:nvPr/>
        </p:nvSpPr>
        <p:spPr>
          <a:xfrm>
            <a:off x="3310128" y="1856232"/>
            <a:ext cx="2560320" cy="731520"/>
          </a:xfrm>
          <a:prstGeom prst="rect">
            <a:avLst/>
          </a:prstGeom>
          <a:noFill/>
          <a:ln/>
        </p:spPr>
        <p:txBody>
          <a:bodyPr wrap="square" rtlCol="0" anchor="ctr"/>
          <a:lstStyle/>
          <a:p>
            <a:pPr marL="0" indent="0">
              <a:buNone/>
            </a:pPr>
            <a:r>
              <a:rPr lang="en-US" sz="1050" dirty="0">
                <a:solidFill>
                  <a:schemeClr val="bg2">
                    <a:lumMod val="50000"/>
                  </a:schemeClr>
                </a:solidFill>
              </a:rPr>
              <a:t>Measures temperature, humidity, and air pressure — needed to calculate plant stress.</a:t>
            </a:r>
          </a:p>
        </p:txBody>
      </p:sp>
      <p:sp>
        <p:nvSpPr>
          <p:cNvPr id="14" name="Shape 12"/>
          <p:cNvSpPr/>
          <p:nvPr/>
        </p:nvSpPr>
        <p:spPr>
          <a:xfrm>
            <a:off x="6163056" y="1005840"/>
            <a:ext cx="2743200" cy="16916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5" name="Shape 13"/>
          <p:cNvSpPr/>
          <p:nvPr/>
        </p:nvSpPr>
        <p:spPr>
          <a:xfrm>
            <a:off x="6163056" y="1005840"/>
            <a:ext cx="2743200" cy="457200"/>
          </a:xfrm>
          <a:prstGeom prst="rect">
            <a:avLst/>
          </a:prstGeom>
          <a:solidFill>
            <a:srgbClr val="1ABC9C"/>
          </a:solidFill>
          <a:ln/>
        </p:spPr>
        <p:txBody>
          <a:bodyPr/>
          <a:lstStyle/>
          <a:p>
            <a:endParaRPr lang="en-IN"/>
          </a:p>
        </p:txBody>
      </p:sp>
      <p:sp>
        <p:nvSpPr>
          <p:cNvPr id="16" name="Text 14"/>
          <p:cNvSpPr/>
          <p:nvPr/>
        </p:nvSpPr>
        <p:spPr>
          <a:xfrm>
            <a:off x="6254496" y="1060704"/>
            <a:ext cx="2560320" cy="347472"/>
          </a:xfrm>
          <a:prstGeom prst="rect">
            <a:avLst/>
          </a:prstGeom>
          <a:noFill/>
          <a:ln/>
        </p:spPr>
        <p:txBody>
          <a:bodyPr wrap="square" rtlCol="0" anchor="ctr"/>
          <a:lstStyle/>
          <a:p>
            <a:pPr marL="0" indent="0">
              <a:buNone/>
            </a:pPr>
            <a:r>
              <a:rPr lang="en-US" sz="1400" b="1" dirty="0">
                <a:solidFill>
                  <a:srgbClr val="FFFFFF"/>
                </a:solidFill>
              </a:rPr>
              <a:t>BH1750</a:t>
            </a:r>
            <a:endParaRPr lang="en-US" sz="1400" dirty="0"/>
          </a:p>
        </p:txBody>
      </p:sp>
      <p:sp>
        <p:nvSpPr>
          <p:cNvPr id="17" name="Text 15"/>
          <p:cNvSpPr/>
          <p:nvPr/>
        </p:nvSpPr>
        <p:spPr>
          <a:xfrm>
            <a:off x="6254496" y="1536192"/>
            <a:ext cx="2560320" cy="292608"/>
          </a:xfrm>
          <a:prstGeom prst="rect">
            <a:avLst/>
          </a:prstGeom>
          <a:noFill/>
          <a:ln/>
        </p:spPr>
        <p:txBody>
          <a:bodyPr wrap="square" rtlCol="0" anchor="ctr"/>
          <a:lstStyle/>
          <a:p>
            <a:pPr marL="0" indent="0">
              <a:buNone/>
            </a:pPr>
            <a:r>
              <a:rPr lang="en-US" sz="1150" b="1" dirty="0">
                <a:solidFill>
                  <a:srgbClr val="2C3E50"/>
                </a:solidFill>
              </a:rPr>
              <a:t>Sunlight Sensor</a:t>
            </a:r>
            <a:endParaRPr lang="en-US" sz="1150" dirty="0"/>
          </a:p>
        </p:txBody>
      </p:sp>
      <p:sp>
        <p:nvSpPr>
          <p:cNvPr id="18" name="Text 16"/>
          <p:cNvSpPr/>
          <p:nvPr/>
        </p:nvSpPr>
        <p:spPr>
          <a:xfrm>
            <a:off x="6254496" y="1856232"/>
            <a:ext cx="2560320" cy="731520"/>
          </a:xfrm>
          <a:prstGeom prst="rect">
            <a:avLst/>
          </a:prstGeom>
          <a:noFill/>
          <a:ln/>
        </p:spPr>
        <p:txBody>
          <a:bodyPr wrap="square" rtlCol="0" anchor="ctr"/>
          <a:lstStyle/>
          <a:p>
            <a:pPr marL="0" indent="0">
              <a:buNone/>
            </a:pPr>
            <a:r>
              <a:rPr lang="en-US" sz="1050" dirty="0">
                <a:solidFill>
                  <a:srgbClr val="7F8C8D"/>
                </a:solidFill>
              </a:rPr>
              <a:t>Measures how much sunlight is hitting the field — more sun means plants need more water.</a:t>
            </a:r>
            <a:endParaRPr lang="en-US" sz="1050" dirty="0"/>
          </a:p>
        </p:txBody>
      </p:sp>
      <p:sp>
        <p:nvSpPr>
          <p:cNvPr id="19" name="Shape 17"/>
          <p:cNvSpPr/>
          <p:nvPr/>
        </p:nvSpPr>
        <p:spPr>
          <a:xfrm>
            <a:off x="274320" y="2926080"/>
            <a:ext cx="2743200" cy="16916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20" name="Shape 18"/>
          <p:cNvSpPr/>
          <p:nvPr/>
        </p:nvSpPr>
        <p:spPr>
          <a:xfrm>
            <a:off x="274320" y="2926080"/>
            <a:ext cx="2743200" cy="457200"/>
          </a:xfrm>
          <a:prstGeom prst="rect">
            <a:avLst/>
          </a:prstGeom>
          <a:solidFill>
            <a:srgbClr val="F39C12"/>
          </a:solidFill>
          <a:ln/>
        </p:spPr>
        <p:txBody>
          <a:bodyPr/>
          <a:lstStyle/>
          <a:p>
            <a:endParaRPr lang="en-IN"/>
          </a:p>
        </p:txBody>
      </p:sp>
      <p:sp>
        <p:nvSpPr>
          <p:cNvPr id="21" name="Text 19"/>
          <p:cNvSpPr/>
          <p:nvPr/>
        </p:nvSpPr>
        <p:spPr>
          <a:xfrm>
            <a:off x="365760" y="2980944"/>
            <a:ext cx="2560320" cy="347472"/>
          </a:xfrm>
          <a:prstGeom prst="rect">
            <a:avLst/>
          </a:prstGeom>
          <a:noFill/>
          <a:ln/>
        </p:spPr>
        <p:txBody>
          <a:bodyPr wrap="square" rtlCol="0" anchor="ctr"/>
          <a:lstStyle/>
          <a:p>
            <a:pPr marL="0" indent="0">
              <a:buNone/>
            </a:pPr>
            <a:r>
              <a:rPr lang="en-US" sz="1400" b="1" dirty="0">
                <a:solidFill>
                  <a:srgbClr val="FFFFFF"/>
                </a:solidFill>
              </a:rPr>
              <a:t>DS3231 RTC</a:t>
            </a:r>
            <a:endParaRPr lang="en-US" sz="1400" dirty="0"/>
          </a:p>
        </p:txBody>
      </p:sp>
      <p:sp>
        <p:nvSpPr>
          <p:cNvPr id="22" name="Text 20"/>
          <p:cNvSpPr/>
          <p:nvPr/>
        </p:nvSpPr>
        <p:spPr>
          <a:xfrm>
            <a:off x="365760" y="3456432"/>
            <a:ext cx="2560320" cy="292608"/>
          </a:xfrm>
          <a:prstGeom prst="rect">
            <a:avLst/>
          </a:prstGeom>
          <a:noFill/>
          <a:ln/>
        </p:spPr>
        <p:txBody>
          <a:bodyPr wrap="square" rtlCol="0" anchor="ctr"/>
          <a:lstStyle/>
          <a:p>
            <a:pPr marL="0" indent="0">
              <a:buNone/>
            </a:pPr>
            <a:r>
              <a:rPr lang="en-US" sz="1150" b="1" dirty="0">
                <a:solidFill>
                  <a:srgbClr val="2C3E50"/>
                </a:solidFill>
              </a:rPr>
              <a:t>Clock Module</a:t>
            </a:r>
            <a:endParaRPr lang="en-US" sz="1150" dirty="0"/>
          </a:p>
        </p:txBody>
      </p:sp>
      <p:sp>
        <p:nvSpPr>
          <p:cNvPr id="23" name="Text 21"/>
          <p:cNvSpPr/>
          <p:nvPr/>
        </p:nvSpPr>
        <p:spPr>
          <a:xfrm>
            <a:off x="365760" y="3776472"/>
            <a:ext cx="2560320" cy="731520"/>
          </a:xfrm>
          <a:prstGeom prst="rect">
            <a:avLst/>
          </a:prstGeom>
          <a:noFill/>
          <a:ln/>
        </p:spPr>
        <p:txBody>
          <a:bodyPr wrap="square" rtlCol="0" anchor="ctr"/>
          <a:lstStyle/>
          <a:p>
            <a:pPr marL="0" indent="0">
              <a:buNone/>
            </a:pPr>
            <a:r>
              <a:rPr lang="en-US" sz="1050" dirty="0">
                <a:solidFill>
                  <a:srgbClr val="7F8C8D"/>
                </a:solidFill>
              </a:rPr>
              <a:t>Keeps accurate time so irrigation always happens at the right window — never at noon.</a:t>
            </a:r>
            <a:endParaRPr lang="en-US" sz="1050" dirty="0"/>
          </a:p>
        </p:txBody>
      </p:sp>
      <p:grpSp>
        <p:nvGrpSpPr>
          <p:cNvPr id="36" name="Group 35">
            <a:extLst>
              <a:ext uri="{FF2B5EF4-FFF2-40B4-BE49-F238E27FC236}">
                <a16:creationId xmlns:a16="http://schemas.microsoft.com/office/drawing/2014/main" id="{ADC16A0D-6A6D-85A5-4A3F-7101C94096D3}"/>
              </a:ext>
            </a:extLst>
          </p:cNvPr>
          <p:cNvGrpSpPr/>
          <p:nvPr/>
        </p:nvGrpSpPr>
        <p:grpSpPr>
          <a:xfrm>
            <a:off x="3218688" y="2926080"/>
            <a:ext cx="2743200" cy="1691640"/>
            <a:chOff x="3218688" y="2926080"/>
            <a:chExt cx="2743200" cy="1691640"/>
          </a:xfrm>
        </p:grpSpPr>
        <p:sp>
          <p:nvSpPr>
            <p:cNvPr id="24" name="Shape 22"/>
            <p:cNvSpPr/>
            <p:nvPr/>
          </p:nvSpPr>
          <p:spPr>
            <a:xfrm>
              <a:off x="3218688" y="2926080"/>
              <a:ext cx="2743200" cy="16916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25" name="Shape 23"/>
            <p:cNvSpPr/>
            <p:nvPr/>
          </p:nvSpPr>
          <p:spPr>
            <a:xfrm>
              <a:off x="3218688" y="2926080"/>
              <a:ext cx="2743200" cy="457200"/>
            </a:xfrm>
            <a:prstGeom prst="rect">
              <a:avLst/>
            </a:prstGeom>
            <a:solidFill>
              <a:srgbClr val="E74C3C"/>
            </a:solidFill>
            <a:ln/>
          </p:spPr>
          <p:txBody>
            <a:bodyPr/>
            <a:lstStyle/>
            <a:p>
              <a:endParaRPr lang="en-IN"/>
            </a:p>
          </p:txBody>
        </p:sp>
        <p:sp>
          <p:nvSpPr>
            <p:cNvPr id="26" name="Text 24"/>
            <p:cNvSpPr/>
            <p:nvPr/>
          </p:nvSpPr>
          <p:spPr>
            <a:xfrm>
              <a:off x="3310128" y="2980944"/>
              <a:ext cx="2560320" cy="347472"/>
            </a:xfrm>
            <a:prstGeom prst="rect">
              <a:avLst/>
            </a:prstGeom>
            <a:noFill/>
            <a:ln/>
          </p:spPr>
          <p:txBody>
            <a:bodyPr wrap="square" rtlCol="0" anchor="ctr"/>
            <a:lstStyle/>
            <a:p>
              <a:pPr marL="0" indent="0">
                <a:buNone/>
              </a:pPr>
              <a:r>
                <a:rPr lang="en-US" sz="1400" b="1" dirty="0">
                  <a:solidFill>
                    <a:srgbClr val="FFFFFF"/>
                  </a:solidFill>
                </a:rPr>
                <a:t>DHT Sensor</a:t>
              </a:r>
              <a:endParaRPr lang="en-US" sz="1400" dirty="0"/>
            </a:p>
          </p:txBody>
        </p:sp>
        <p:sp>
          <p:nvSpPr>
            <p:cNvPr id="27" name="Text 25"/>
            <p:cNvSpPr/>
            <p:nvPr/>
          </p:nvSpPr>
          <p:spPr>
            <a:xfrm>
              <a:off x="3310128" y="3456432"/>
              <a:ext cx="2560320" cy="292608"/>
            </a:xfrm>
            <a:prstGeom prst="rect">
              <a:avLst/>
            </a:prstGeom>
            <a:noFill/>
            <a:ln/>
          </p:spPr>
          <p:txBody>
            <a:bodyPr wrap="square" rtlCol="0" anchor="ctr"/>
            <a:lstStyle/>
            <a:p>
              <a:pPr marL="0" indent="0">
                <a:buNone/>
              </a:pPr>
              <a:r>
                <a:rPr lang="en-US" sz="1150" b="1" dirty="0">
                  <a:solidFill>
                    <a:srgbClr val="2C3E50"/>
                  </a:solidFill>
                </a:rPr>
                <a:t>DHT Sensor</a:t>
              </a:r>
              <a:endParaRPr lang="en-US" sz="1150" dirty="0"/>
            </a:p>
          </p:txBody>
        </p:sp>
        <p:sp>
          <p:nvSpPr>
            <p:cNvPr id="28" name="Text 26"/>
            <p:cNvSpPr/>
            <p:nvPr/>
          </p:nvSpPr>
          <p:spPr>
            <a:xfrm>
              <a:off x="3310128" y="3776472"/>
              <a:ext cx="2560320" cy="731520"/>
            </a:xfrm>
            <a:prstGeom prst="rect">
              <a:avLst/>
            </a:prstGeom>
            <a:noFill/>
            <a:ln/>
          </p:spPr>
          <p:txBody>
            <a:bodyPr wrap="square" rtlCol="0" anchor="ctr"/>
            <a:lstStyle/>
            <a:p>
              <a:r>
                <a:rPr lang="en-US" sz="1050" dirty="0">
                  <a:solidFill>
                    <a:schemeClr val="bg2">
                      <a:lumMod val="50000"/>
                    </a:schemeClr>
                  </a:solidFill>
                </a:rPr>
                <a:t>Monitors temperature and humidity for irrigation optimization and climate-based control</a:t>
              </a:r>
            </a:p>
          </p:txBody>
        </p:sp>
      </p:grpSp>
      <p:sp>
        <p:nvSpPr>
          <p:cNvPr id="29" name="Shape 27"/>
          <p:cNvSpPr/>
          <p:nvPr/>
        </p:nvSpPr>
        <p:spPr>
          <a:xfrm>
            <a:off x="6163056" y="2926080"/>
            <a:ext cx="2743200" cy="16916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30" name="Shape 28"/>
          <p:cNvSpPr/>
          <p:nvPr/>
        </p:nvSpPr>
        <p:spPr>
          <a:xfrm>
            <a:off x="6163056" y="2926080"/>
            <a:ext cx="2743200" cy="457200"/>
          </a:xfrm>
          <a:prstGeom prst="rect">
            <a:avLst/>
          </a:prstGeom>
          <a:solidFill>
            <a:srgbClr val="9B59B6"/>
          </a:solidFill>
          <a:ln/>
        </p:spPr>
        <p:txBody>
          <a:bodyPr/>
          <a:lstStyle/>
          <a:p>
            <a:endParaRPr lang="en-IN"/>
          </a:p>
        </p:txBody>
      </p:sp>
      <p:sp>
        <p:nvSpPr>
          <p:cNvPr id="31" name="Text 29"/>
          <p:cNvSpPr/>
          <p:nvPr/>
        </p:nvSpPr>
        <p:spPr>
          <a:xfrm>
            <a:off x="6254496" y="2980944"/>
            <a:ext cx="2560320" cy="347472"/>
          </a:xfrm>
          <a:prstGeom prst="rect">
            <a:avLst/>
          </a:prstGeom>
          <a:noFill/>
          <a:ln/>
        </p:spPr>
        <p:txBody>
          <a:bodyPr wrap="square" rtlCol="0" anchor="ctr"/>
          <a:lstStyle/>
          <a:p>
            <a:pPr marL="0" indent="0">
              <a:buNone/>
            </a:pPr>
            <a:r>
              <a:rPr lang="en-US" sz="1400" b="1" dirty="0">
                <a:solidFill>
                  <a:srgbClr val="FFFFFF"/>
                </a:solidFill>
              </a:rPr>
              <a:t>Soil Moisture Sensor</a:t>
            </a:r>
            <a:endParaRPr lang="en-US" sz="1400" dirty="0"/>
          </a:p>
        </p:txBody>
      </p:sp>
      <p:sp>
        <p:nvSpPr>
          <p:cNvPr id="32" name="Text 30"/>
          <p:cNvSpPr/>
          <p:nvPr/>
        </p:nvSpPr>
        <p:spPr>
          <a:xfrm>
            <a:off x="6254496" y="3456432"/>
            <a:ext cx="2560320" cy="292608"/>
          </a:xfrm>
          <a:prstGeom prst="rect">
            <a:avLst/>
          </a:prstGeom>
          <a:noFill/>
          <a:ln/>
        </p:spPr>
        <p:txBody>
          <a:bodyPr wrap="square" rtlCol="0" anchor="ctr"/>
          <a:lstStyle/>
          <a:p>
            <a:pPr marL="0" indent="0">
              <a:buNone/>
            </a:pPr>
            <a:r>
              <a:rPr lang="en-US" sz="1150" b="1" dirty="0">
                <a:solidFill>
                  <a:srgbClr val="2C3E50"/>
                </a:solidFill>
              </a:rPr>
              <a:t>Soil Moisture Sensor</a:t>
            </a:r>
            <a:endParaRPr lang="en-US" sz="1150" dirty="0"/>
          </a:p>
        </p:txBody>
      </p:sp>
      <p:sp>
        <p:nvSpPr>
          <p:cNvPr id="33" name="Text 31"/>
          <p:cNvSpPr/>
          <p:nvPr/>
        </p:nvSpPr>
        <p:spPr>
          <a:xfrm>
            <a:off x="6254496" y="3776472"/>
            <a:ext cx="2560320" cy="731520"/>
          </a:xfrm>
          <a:prstGeom prst="rect">
            <a:avLst/>
          </a:prstGeom>
          <a:noFill/>
          <a:ln/>
        </p:spPr>
        <p:txBody>
          <a:bodyPr wrap="square" rtlCol="0" anchor="ctr"/>
          <a:lstStyle/>
          <a:p>
            <a:r>
              <a:rPr lang="en-US" sz="1050" dirty="0">
                <a:solidFill>
                  <a:schemeClr val="bg2">
                    <a:lumMod val="50000"/>
                  </a:schemeClr>
                </a:solidFill>
              </a:rPr>
              <a:t>Measures soil moisture level for efficient water control and crop growth.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FFE"/>
        </a:solidFill>
        <a:effectLst/>
      </p:bgPr>
    </p:bg>
    <p:spTree>
      <p:nvGrpSpPr>
        <p:cNvPr id="1" name="">
          <a:extLst>
            <a:ext uri="{FF2B5EF4-FFF2-40B4-BE49-F238E27FC236}">
              <a16:creationId xmlns:a16="http://schemas.microsoft.com/office/drawing/2014/main" id="{3FAE5CE7-23B2-F363-B45A-A64204CA366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DC5A0D9-BBE0-AEB3-0AD1-63A390FC7AFF}"/>
              </a:ext>
            </a:extLst>
          </p:cNvPr>
          <p:cNvSpPr/>
          <p:nvPr/>
        </p:nvSpPr>
        <p:spPr>
          <a:xfrm>
            <a:off x="0" y="0"/>
            <a:ext cx="9144000" cy="822960"/>
          </a:xfrm>
          <a:prstGeom prst="rect">
            <a:avLst/>
          </a:prstGeom>
          <a:solidFill>
            <a:srgbClr val="00B050"/>
          </a:solidFill>
          <a:ln/>
        </p:spPr>
        <p:txBody>
          <a:bodyPr/>
          <a:lstStyle/>
          <a:p>
            <a:endParaRPr lang="en-IN"/>
          </a:p>
        </p:txBody>
      </p:sp>
      <p:sp>
        <p:nvSpPr>
          <p:cNvPr id="3" name="Text 1">
            <a:extLst>
              <a:ext uri="{FF2B5EF4-FFF2-40B4-BE49-F238E27FC236}">
                <a16:creationId xmlns:a16="http://schemas.microsoft.com/office/drawing/2014/main" id="{BB9DC124-C879-1908-304B-15DDEED73B72}"/>
              </a:ext>
            </a:extLst>
          </p:cNvPr>
          <p:cNvSpPr/>
          <p:nvPr/>
        </p:nvSpPr>
        <p:spPr>
          <a:xfrm>
            <a:off x="365760" y="109728"/>
            <a:ext cx="8412480" cy="603504"/>
          </a:xfrm>
          <a:prstGeom prst="rect">
            <a:avLst/>
          </a:prstGeom>
          <a:noFill/>
          <a:ln/>
        </p:spPr>
        <p:txBody>
          <a:bodyPr wrap="square" rtlCol="0" anchor="ctr"/>
          <a:lstStyle/>
          <a:p>
            <a:pPr marL="0" indent="0">
              <a:buNone/>
            </a:pPr>
            <a:r>
              <a:rPr lang="en-US" sz="2000" b="1" dirty="0">
                <a:solidFill>
                  <a:srgbClr val="FFFFFF"/>
                </a:solidFill>
              </a:rPr>
              <a:t>PROJECT SETUP AND WEB DASHBOARD</a:t>
            </a:r>
            <a:endParaRPr lang="en-US" sz="2200" dirty="0"/>
          </a:p>
        </p:txBody>
      </p:sp>
      <p:grpSp>
        <p:nvGrpSpPr>
          <p:cNvPr id="31" name="Group 30">
            <a:extLst>
              <a:ext uri="{FF2B5EF4-FFF2-40B4-BE49-F238E27FC236}">
                <a16:creationId xmlns:a16="http://schemas.microsoft.com/office/drawing/2014/main" id="{ECF4430B-19BC-3ACA-59AB-60A21D19F14F}"/>
              </a:ext>
            </a:extLst>
          </p:cNvPr>
          <p:cNvGrpSpPr/>
          <p:nvPr/>
        </p:nvGrpSpPr>
        <p:grpSpPr>
          <a:xfrm>
            <a:off x="1512276" y="2958810"/>
            <a:ext cx="6119447" cy="2094345"/>
            <a:chOff x="274320" y="2011680"/>
            <a:chExt cx="8732520" cy="2770632"/>
          </a:xfrm>
        </p:grpSpPr>
        <p:sp>
          <p:nvSpPr>
            <p:cNvPr id="6" name="Text 4">
              <a:extLst>
                <a:ext uri="{FF2B5EF4-FFF2-40B4-BE49-F238E27FC236}">
                  <a16:creationId xmlns:a16="http://schemas.microsoft.com/office/drawing/2014/main" id="{A18C8C4E-7001-5130-B5E5-5194FBC5BEA1}"/>
                </a:ext>
              </a:extLst>
            </p:cNvPr>
            <p:cNvSpPr/>
            <p:nvPr/>
          </p:nvSpPr>
          <p:spPr>
            <a:xfrm>
              <a:off x="365760" y="2011680"/>
              <a:ext cx="8229600" cy="320040"/>
            </a:xfrm>
            <a:prstGeom prst="rect">
              <a:avLst/>
            </a:prstGeom>
            <a:noFill/>
            <a:ln/>
          </p:spPr>
          <p:txBody>
            <a:bodyPr wrap="square" rtlCol="0" anchor="ctr"/>
            <a:lstStyle/>
            <a:p>
              <a:pPr marL="0" indent="0">
                <a:buNone/>
              </a:pPr>
              <a:r>
                <a:rPr lang="en-US" sz="1400" b="1" dirty="0">
                  <a:solidFill>
                    <a:srgbClr val="2C3E50"/>
                  </a:solidFill>
                </a:rPr>
                <a:t>How it Works — Step by Step</a:t>
              </a:r>
              <a:endParaRPr lang="en-US" sz="1400" dirty="0"/>
            </a:p>
          </p:txBody>
        </p:sp>
        <p:grpSp>
          <p:nvGrpSpPr>
            <p:cNvPr id="30" name="Group 29">
              <a:extLst>
                <a:ext uri="{FF2B5EF4-FFF2-40B4-BE49-F238E27FC236}">
                  <a16:creationId xmlns:a16="http://schemas.microsoft.com/office/drawing/2014/main" id="{0075358C-850A-7B33-A968-A6D5141597D9}"/>
                </a:ext>
              </a:extLst>
            </p:cNvPr>
            <p:cNvGrpSpPr/>
            <p:nvPr/>
          </p:nvGrpSpPr>
          <p:grpSpPr>
            <a:xfrm>
              <a:off x="274320" y="2423160"/>
              <a:ext cx="8732520" cy="2359152"/>
              <a:chOff x="274320" y="2423160"/>
              <a:chExt cx="8732520" cy="2359152"/>
            </a:xfrm>
          </p:grpSpPr>
          <p:sp>
            <p:nvSpPr>
              <p:cNvPr id="7" name="Shape 5">
                <a:extLst>
                  <a:ext uri="{FF2B5EF4-FFF2-40B4-BE49-F238E27FC236}">
                    <a16:creationId xmlns:a16="http://schemas.microsoft.com/office/drawing/2014/main" id="{3F750EE6-BC30-ABF6-35EF-4E3373D22AA5}"/>
                  </a:ext>
                </a:extLst>
              </p:cNvPr>
              <p:cNvSpPr/>
              <p:nvPr/>
            </p:nvSpPr>
            <p:spPr>
              <a:xfrm>
                <a:off x="274320" y="2423160"/>
                <a:ext cx="4251960" cy="10972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8" name="Shape 6">
                <a:extLst>
                  <a:ext uri="{FF2B5EF4-FFF2-40B4-BE49-F238E27FC236}">
                    <a16:creationId xmlns:a16="http://schemas.microsoft.com/office/drawing/2014/main" id="{078330AF-66B5-09FB-728A-8086BA062385}"/>
                  </a:ext>
                </a:extLst>
              </p:cNvPr>
              <p:cNvSpPr/>
              <p:nvPr/>
            </p:nvSpPr>
            <p:spPr>
              <a:xfrm>
                <a:off x="384048" y="2770632"/>
                <a:ext cx="384048" cy="384048"/>
              </a:xfrm>
              <a:prstGeom prst="ellipse">
                <a:avLst/>
              </a:prstGeom>
              <a:solidFill>
                <a:srgbClr val="F39C12"/>
              </a:solidFill>
              <a:ln/>
            </p:spPr>
            <p:txBody>
              <a:bodyPr/>
              <a:lstStyle/>
              <a:p>
                <a:endParaRPr lang="en-IN"/>
              </a:p>
            </p:txBody>
          </p:sp>
          <p:sp>
            <p:nvSpPr>
              <p:cNvPr id="9" name="Text 7">
                <a:extLst>
                  <a:ext uri="{FF2B5EF4-FFF2-40B4-BE49-F238E27FC236}">
                    <a16:creationId xmlns:a16="http://schemas.microsoft.com/office/drawing/2014/main" id="{7DC7BFE0-8224-2EEF-A3BC-98B3C3213C0E}"/>
                  </a:ext>
                </a:extLst>
              </p:cNvPr>
              <p:cNvSpPr/>
              <p:nvPr/>
            </p:nvSpPr>
            <p:spPr>
              <a:xfrm>
                <a:off x="384048" y="2752344"/>
                <a:ext cx="384048" cy="384048"/>
              </a:xfrm>
              <a:prstGeom prst="rect">
                <a:avLst/>
              </a:prstGeom>
              <a:noFill/>
              <a:ln/>
            </p:spPr>
            <p:txBody>
              <a:bodyPr wrap="square" rtlCol="0" anchor="ctr"/>
              <a:lstStyle/>
              <a:p>
                <a:pPr marL="0" indent="0" algn="ctr">
                  <a:buNone/>
                </a:pPr>
                <a:r>
                  <a:rPr lang="en-US" sz="1300" b="1" dirty="0">
                    <a:solidFill>
                      <a:srgbClr val="FFFFFF"/>
                    </a:solidFill>
                  </a:rPr>
                  <a:t>1</a:t>
                </a:r>
                <a:endParaRPr lang="en-US" sz="1300" dirty="0"/>
              </a:p>
            </p:txBody>
          </p:sp>
          <p:sp>
            <p:nvSpPr>
              <p:cNvPr id="10" name="Text 8">
                <a:extLst>
                  <a:ext uri="{FF2B5EF4-FFF2-40B4-BE49-F238E27FC236}">
                    <a16:creationId xmlns:a16="http://schemas.microsoft.com/office/drawing/2014/main" id="{0B53577E-1A24-4F73-C4B9-D25A1D86D445}"/>
                  </a:ext>
                </a:extLst>
              </p:cNvPr>
              <p:cNvSpPr/>
              <p:nvPr/>
            </p:nvSpPr>
            <p:spPr>
              <a:xfrm>
                <a:off x="896112" y="2514600"/>
                <a:ext cx="3520440" cy="320040"/>
              </a:xfrm>
              <a:prstGeom prst="rect">
                <a:avLst/>
              </a:prstGeom>
              <a:noFill/>
              <a:ln/>
            </p:spPr>
            <p:txBody>
              <a:bodyPr wrap="square" rtlCol="0" anchor="ctr"/>
              <a:lstStyle/>
              <a:p>
                <a:pPr marL="0" indent="0">
                  <a:buNone/>
                </a:pPr>
                <a:r>
                  <a:rPr lang="en-US" sz="1250" b="1" dirty="0">
                    <a:solidFill>
                      <a:srgbClr val="2C3E50"/>
                    </a:solidFill>
                  </a:rPr>
                  <a:t>Measure Sunlight , VPD, Humidity</a:t>
                </a:r>
                <a:endParaRPr lang="en-US" sz="1250" dirty="0"/>
              </a:p>
            </p:txBody>
          </p:sp>
          <p:sp>
            <p:nvSpPr>
              <p:cNvPr id="11" name="Text 9">
                <a:extLst>
                  <a:ext uri="{FF2B5EF4-FFF2-40B4-BE49-F238E27FC236}">
                    <a16:creationId xmlns:a16="http://schemas.microsoft.com/office/drawing/2014/main" id="{9844D17C-859C-012F-02B5-97C15F93C935}"/>
                  </a:ext>
                </a:extLst>
              </p:cNvPr>
              <p:cNvSpPr/>
              <p:nvPr/>
            </p:nvSpPr>
            <p:spPr>
              <a:xfrm>
                <a:off x="896112" y="2862072"/>
                <a:ext cx="3520440" cy="594360"/>
              </a:xfrm>
              <a:prstGeom prst="rect">
                <a:avLst/>
              </a:prstGeom>
              <a:noFill/>
              <a:ln/>
            </p:spPr>
            <p:txBody>
              <a:bodyPr wrap="square" rtlCol="0" anchor="ctr"/>
              <a:lstStyle/>
              <a:p>
                <a:pPr marL="0" indent="0">
                  <a:buNone/>
                </a:pPr>
                <a:r>
                  <a:rPr lang="en-US" sz="1100" dirty="0">
                    <a:solidFill>
                      <a:srgbClr val="7F8C8D"/>
                    </a:solidFill>
                  </a:rPr>
                  <a:t>The BH1750 sensor measures brightness (lux) every 2 minutes during the day</a:t>
                </a:r>
                <a:endParaRPr lang="en-US" sz="1100" dirty="0"/>
              </a:p>
            </p:txBody>
          </p:sp>
          <p:sp>
            <p:nvSpPr>
              <p:cNvPr id="12" name="Shape 10">
                <a:extLst>
                  <a:ext uri="{FF2B5EF4-FFF2-40B4-BE49-F238E27FC236}">
                    <a16:creationId xmlns:a16="http://schemas.microsoft.com/office/drawing/2014/main" id="{0913CC1C-A5DD-CFC9-FC18-13D9F6546941}"/>
                  </a:ext>
                </a:extLst>
              </p:cNvPr>
              <p:cNvSpPr/>
              <p:nvPr/>
            </p:nvSpPr>
            <p:spPr>
              <a:xfrm>
                <a:off x="4754880" y="2423160"/>
                <a:ext cx="4251960" cy="10972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3" name="Shape 11">
                <a:extLst>
                  <a:ext uri="{FF2B5EF4-FFF2-40B4-BE49-F238E27FC236}">
                    <a16:creationId xmlns:a16="http://schemas.microsoft.com/office/drawing/2014/main" id="{52FF4457-FE43-6C85-4660-ACD6B505B78D}"/>
                  </a:ext>
                </a:extLst>
              </p:cNvPr>
              <p:cNvSpPr/>
              <p:nvPr/>
            </p:nvSpPr>
            <p:spPr>
              <a:xfrm>
                <a:off x="4864608" y="2770632"/>
                <a:ext cx="384048" cy="384048"/>
              </a:xfrm>
              <a:prstGeom prst="ellipse">
                <a:avLst/>
              </a:prstGeom>
              <a:solidFill>
                <a:srgbClr val="F39C12"/>
              </a:solidFill>
              <a:ln/>
            </p:spPr>
            <p:txBody>
              <a:bodyPr/>
              <a:lstStyle/>
              <a:p>
                <a:endParaRPr lang="en-IN"/>
              </a:p>
            </p:txBody>
          </p:sp>
          <p:sp>
            <p:nvSpPr>
              <p:cNvPr id="14" name="Text 12">
                <a:extLst>
                  <a:ext uri="{FF2B5EF4-FFF2-40B4-BE49-F238E27FC236}">
                    <a16:creationId xmlns:a16="http://schemas.microsoft.com/office/drawing/2014/main" id="{182527F2-CDC1-75F0-0D1B-72B0BF4ADF78}"/>
                  </a:ext>
                </a:extLst>
              </p:cNvPr>
              <p:cNvSpPr/>
              <p:nvPr/>
            </p:nvSpPr>
            <p:spPr>
              <a:xfrm>
                <a:off x="4864608" y="2752344"/>
                <a:ext cx="384048" cy="384048"/>
              </a:xfrm>
              <a:prstGeom prst="rect">
                <a:avLst/>
              </a:prstGeom>
              <a:noFill/>
              <a:ln/>
            </p:spPr>
            <p:txBody>
              <a:bodyPr wrap="square" rtlCol="0" anchor="ctr"/>
              <a:lstStyle/>
              <a:p>
                <a:pPr marL="0" indent="0" algn="ctr">
                  <a:buNone/>
                </a:pPr>
                <a:r>
                  <a:rPr lang="en-US" sz="1300" b="1" dirty="0">
                    <a:solidFill>
                      <a:srgbClr val="FFFFFF"/>
                    </a:solidFill>
                  </a:rPr>
                  <a:t>2</a:t>
                </a:r>
                <a:endParaRPr lang="en-US" sz="1300" dirty="0"/>
              </a:p>
            </p:txBody>
          </p:sp>
          <p:sp>
            <p:nvSpPr>
              <p:cNvPr id="15" name="Text 13">
                <a:extLst>
                  <a:ext uri="{FF2B5EF4-FFF2-40B4-BE49-F238E27FC236}">
                    <a16:creationId xmlns:a16="http://schemas.microsoft.com/office/drawing/2014/main" id="{37A15965-E29C-1673-7973-8E070F3E4525}"/>
                  </a:ext>
                </a:extLst>
              </p:cNvPr>
              <p:cNvSpPr/>
              <p:nvPr/>
            </p:nvSpPr>
            <p:spPr>
              <a:xfrm>
                <a:off x="5376672" y="2514600"/>
                <a:ext cx="3520440" cy="320040"/>
              </a:xfrm>
              <a:prstGeom prst="rect">
                <a:avLst/>
              </a:prstGeom>
              <a:noFill/>
              <a:ln/>
            </p:spPr>
            <p:txBody>
              <a:bodyPr wrap="square" rtlCol="0" anchor="ctr"/>
              <a:lstStyle/>
              <a:p>
                <a:pPr marL="0" indent="0">
                  <a:buNone/>
                </a:pPr>
                <a:r>
                  <a:rPr lang="en-US" sz="1250" b="1" dirty="0">
                    <a:solidFill>
                      <a:srgbClr val="2C3E50"/>
                    </a:solidFill>
                  </a:rPr>
                  <a:t>Add It Up</a:t>
                </a:r>
                <a:endParaRPr lang="en-US" sz="1250" dirty="0"/>
              </a:p>
            </p:txBody>
          </p:sp>
          <p:sp>
            <p:nvSpPr>
              <p:cNvPr id="16" name="Text 14">
                <a:extLst>
                  <a:ext uri="{FF2B5EF4-FFF2-40B4-BE49-F238E27FC236}">
                    <a16:creationId xmlns:a16="http://schemas.microsoft.com/office/drawing/2014/main" id="{E5C105CF-BDC2-0656-82B7-5F9F092BA0F9}"/>
                  </a:ext>
                </a:extLst>
              </p:cNvPr>
              <p:cNvSpPr/>
              <p:nvPr/>
            </p:nvSpPr>
            <p:spPr>
              <a:xfrm>
                <a:off x="5376672" y="2862072"/>
                <a:ext cx="3520440" cy="594360"/>
              </a:xfrm>
              <a:prstGeom prst="rect">
                <a:avLst/>
              </a:prstGeom>
              <a:noFill/>
              <a:ln/>
            </p:spPr>
            <p:txBody>
              <a:bodyPr wrap="square" rtlCol="0" anchor="ctr"/>
              <a:lstStyle/>
              <a:p>
                <a:pPr marL="0" indent="0">
                  <a:buNone/>
                </a:pPr>
                <a:r>
                  <a:rPr lang="en-US" sz="1100" dirty="0">
                    <a:solidFill>
                      <a:srgbClr val="7F8C8D"/>
                    </a:solidFill>
                  </a:rPr>
                  <a:t>All lux readings are totalled throughout the day to get a Cumulative Solar Energy score</a:t>
                </a:r>
                <a:endParaRPr lang="en-US" sz="1100" dirty="0"/>
              </a:p>
            </p:txBody>
          </p:sp>
          <p:sp>
            <p:nvSpPr>
              <p:cNvPr id="17" name="Shape 15">
                <a:extLst>
                  <a:ext uri="{FF2B5EF4-FFF2-40B4-BE49-F238E27FC236}">
                    <a16:creationId xmlns:a16="http://schemas.microsoft.com/office/drawing/2014/main" id="{212804B4-3F75-3158-80D0-252C97D2F444}"/>
                  </a:ext>
                </a:extLst>
              </p:cNvPr>
              <p:cNvSpPr/>
              <p:nvPr/>
            </p:nvSpPr>
            <p:spPr>
              <a:xfrm>
                <a:off x="274320" y="3685032"/>
                <a:ext cx="4251960" cy="10972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8" name="Shape 16">
                <a:extLst>
                  <a:ext uri="{FF2B5EF4-FFF2-40B4-BE49-F238E27FC236}">
                    <a16:creationId xmlns:a16="http://schemas.microsoft.com/office/drawing/2014/main" id="{1A1DCF80-0349-E95D-B684-EEE23220BA44}"/>
                  </a:ext>
                </a:extLst>
              </p:cNvPr>
              <p:cNvSpPr/>
              <p:nvPr/>
            </p:nvSpPr>
            <p:spPr>
              <a:xfrm>
                <a:off x="384048" y="4032504"/>
                <a:ext cx="384048" cy="384048"/>
              </a:xfrm>
              <a:prstGeom prst="ellipse">
                <a:avLst/>
              </a:prstGeom>
              <a:solidFill>
                <a:srgbClr val="F39C12"/>
              </a:solidFill>
              <a:ln/>
            </p:spPr>
            <p:txBody>
              <a:bodyPr/>
              <a:lstStyle/>
              <a:p>
                <a:endParaRPr lang="en-IN"/>
              </a:p>
            </p:txBody>
          </p:sp>
          <p:sp>
            <p:nvSpPr>
              <p:cNvPr id="19" name="Text 17">
                <a:extLst>
                  <a:ext uri="{FF2B5EF4-FFF2-40B4-BE49-F238E27FC236}">
                    <a16:creationId xmlns:a16="http://schemas.microsoft.com/office/drawing/2014/main" id="{BB090418-EE10-ACCA-55EE-8D427CA38C2C}"/>
                  </a:ext>
                </a:extLst>
              </p:cNvPr>
              <p:cNvSpPr/>
              <p:nvPr/>
            </p:nvSpPr>
            <p:spPr>
              <a:xfrm>
                <a:off x="384048" y="4014216"/>
                <a:ext cx="384048" cy="384048"/>
              </a:xfrm>
              <a:prstGeom prst="rect">
                <a:avLst/>
              </a:prstGeom>
              <a:noFill/>
              <a:ln/>
            </p:spPr>
            <p:txBody>
              <a:bodyPr wrap="square" rtlCol="0" anchor="ctr"/>
              <a:lstStyle/>
              <a:p>
                <a:pPr marL="0" indent="0" algn="ctr">
                  <a:buNone/>
                </a:pPr>
                <a:r>
                  <a:rPr lang="en-US" sz="1300" b="1" dirty="0">
                    <a:solidFill>
                      <a:srgbClr val="FFFFFF"/>
                    </a:solidFill>
                  </a:rPr>
                  <a:t>3</a:t>
                </a:r>
                <a:endParaRPr lang="en-US" sz="1300" dirty="0"/>
              </a:p>
            </p:txBody>
          </p:sp>
          <p:sp>
            <p:nvSpPr>
              <p:cNvPr id="20" name="Text 18">
                <a:extLst>
                  <a:ext uri="{FF2B5EF4-FFF2-40B4-BE49-F238E27FC236}">
                    <a16:creationId xmlns:a16="http://schemas.microsoft.com/office/drawing/2014/main" id="{F7C90474-46BB-502E-05BC-FC6F9E015945}"/>
                  </a:ext>
                </a:extLst>
              </p:cNvPr>
              <p:cNvSpPr/>
              <p:nvPr/>
            </p:nvSpPr>
            <p:spPr>
              <a:xfrm>
                <a:off x="896112" y="3776472"/>
                <a:ext cx="3520440" cy="320040"/>
              </a:xfrm>
              <a:prstGeom prst="rect">
                <a:avLst/>
              </a:prstGeom>
              <a:noFill/>
              <a:ln/>
            </p:spPr>
            <p:txBody>
              <a:bodyPr wrap="square" rtlCol="0" anchor="ctr"/>
              <a:lstStyle/>
              <a:p>
                <a:pPr marL="0" indent="0">
                  <a:buNone/>
                </a:pPr>
                <a:r>
                  <a:rPr lang="en-US" sz="1250" b="1" dirty="0">
                    <a:solidFill>
                      <a:srgbClr val="2C3E50"/>
                    </a:solidFill>
                  </a:rPr>
                  <a:t>Combine with VPD</a:t>
                </a:r>
                <a:endParaRPr lang="en-US" sz="1250" dirty="0"/>
              </a:p>
            </p:txBody>
          </p:sp>
          <p:sp>
            <p:nvSpPr>
              <p:cNvPr id="21" name="Text 19">
                <a:extLst>
                  <a:ext uri="{FF2B5EF4-FFF2-40B4-BE49-F238E27FC236}">
                    <a16:creationId xmlns:a16="http://schemas.microsoft.com/office/drawing/2014/main" id="{67A06ADF-E53C-715A-BE88-C30A0BAE8C0D}"/>
                  </a:ext>
                </a:extLst>
              </p:cNvPr>
              <p:cNvSpPr/>
              <p:nvPr/>
            </p:nvSpPr>
            <p:spPr>
              <a:xfrm>
                <a:off x="896112" y="4123944"/>
                <a:ext cx="3520440" cy="594360"/>
              </a:xfrm>
              <a:prstGeom prst="rect">
                <a:avLst/>
              </a:prstGeom>
              <a:noFill/>
              <a:ln/>
            </p:spPr>
            <p:txBody>
              <a:bodyPr wrap="square" rtlCol="0" anchor="ctr"/>
              <a:lstStyle/>
              <a:p>
                <a:pPr marL="0" indent="0">
                  <a:buNone/>
                </a:pPr>
                <a:r>
                  <a:rPr lang="en-US" sz="1100" dirty="0">
                    <a:solidFill>
                      <a:srgbClr val="7F8C8D"/>
                    </a:solidFill>
                  </a:rPr>
                  <a:t>The solar score and VPD are combined into one number — the Atmospheric Demand Index (ADI)</a:t>
                </a:r>
                <a:endParaRPr lang="en-US" sz="1100" dirty="0"/>
              </a:p>
            </p:txBody>
          </p:sp>
          <p:sp>
            <p:nvSpPr>
              <p:cNvPr id="22" name="Shape 20">
                <a:extLst>
                  <a:ext uri="{FF2B5EF4-FFF2-40B4-BE49-F238E27FC236}">
                    <a16:creationId xmlns:a16="http://schemas.microsoft.com/office/drawing/2014/main" id="{BDE17EDD-A70F-4681-667F-674194E9EC24}"/>
                  </a:ext>
                </a:extLst>
              </p:cNvPr>
              <p:cNvSpPr/>
              <p:nvPr/>
            </p:nvSpPr>
            <p:spPr>
              <a:xfrm>
                <a:off x="4754880" y="3685032"/>
                <a:ext cx="4251960" cy="10972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23" name="Shape 21">
                <a:extLst>
                  <a:ext uri="{FF2B5EF4-FFF2-40B4-BE49-F238E27FC236}">
                    <a16:creationId xmlns:a16="http://schemas.microsoft.com/office/drawing/2014/main" id="{3AD91938-ACA3-A17D-4134-6A78C0B06F4B}"/>
                  </a:ext>
                </a:extLst>
              </p:cNvPr>
              <p:cNvSpPr/>
              <p:nvPr/>
            </p:nvSpPr>
            <p:spPr>
              <a:xfrm>
                <a:off x="4864608" y="4032504"/>
                <a:ext cx="384048" cy="384048"/>
              </a:xfrm>
              <a:prstGeom prst="ellipse">
                <a:avLst/>
              </a:prstGeom>
              <a:solidFill>
                <a:srgbClr val="F39C12"/>
              </a:solidFill>
              <a:ln/>
            </p:spPr>
            <p:txBody>
              <a:bodyPr/>
              <a:lstStyle/>
              <a:p>
                <a:endParaRPr lang="en-IN"/>
              </a:p>
            </p:txBody>
          </p:sp>
          <p:sp>
            <p:nvSpPr>
              <p:cNvPr id="24" name="Text 22">
                <a:extLst>
                  <a:ext uri="{FF2B5EF4-FFF2-40B4-BE49-F238E27FC236}">
                    <a16:creationId xmlns:a16="http://schemas.microsoft.com/office/drawing/2014/main" id="{4B90719F-D383-EFA9-7C86-A192DD6D7290}"/>
                  </a:ext>
                </a:extLst>
              </p:cNvPr>
              <p:cNvSpPr/>
              <p:nvPr/>
            </p:nvSpPr>
            <p:spPr>
              <a:xfrm>
                <a:off x="4864608" y="4014216"/>
                <a:ext cx="384048" cy="384048"/>
              </a:xfrm>
              <a:prstGeom prst="rect">
                <a:avLst/>
              </a:prstGeom>
              <a:noFill/>
              <a:ln/>
            </p:spPr>
            <p:txBody>
              <a:bodyPr wrap="square" rtlCol="0" anchor="ctr"/>
              <a:lstStyle/>
              <a:p>
                <a:pPr marL="0" indent="0" algn="ctr">
                  <a:buNone/>
                </a:pPr>
                <a:r>
                  <a:rPr lang="en-US" sz="1300" b="1" dirty="0">
                    <a:solidFill>
                      <a:srgbClr val="FFFFFF"/>
                    </a:solidFill>
                  </a:rPr>
                  <a:t>4</a:t>
                </a:r>
                <a:endParaRPr lang="en-US" sz="1300" dirty="0"/>
              </a:p>
            </p:txBody>
          </p:sp>
          <p:sp>
            <p:nvSpPr>
              <p:cNvPr id="25" name="Text 23">
                <a:extLst>
                  <a:ext uri="{FF2B5EF4-FFF2-40B4-BE49-F238E27FC236}">
                    <a16:creationId xmlns:a16="http://schemas.microsoft.com/office/drawing/2014/main" id="{DCFFE4A9-97B7-1A22-FEBF-2340EEF4C980}"/>
                  </a:ext>
                </a:extLst>
              </p:cNvPr>
              <p:cNvSpPr/>
              <p:nvPr/>
            </p:nvSpPr>
            <p:spPr>
              <a:xfrm>
                <a:off x="5376672" y="3776472"/>
                <a:ext cx="3520440" cy="320040"/>
              </a:xfrm>
              <a:prstGeom prst="rect">
                <a:avLst/>
              </a:prstGeom>
              <a:noFill/>
              <a:ln/>
            </p:spPr>
            <p:txBody>
              <a:bodyPr wrap="square" rtlCol="0" anchor="ctr"/>
              <a:lstStyle/>
              <a:p>
                <a:pPr marL="0" indent="0">
                  <a:buNone/>
                </a:pPr>
                <a:r>
                  <a:rPr lang="en-US" sz="1250" b="1" dirty="0">
                    <a:solidFill>
                      <a:srgbClr val="2C3E50"/>
                    </a:solidFill>
                  </a:rPr>
                  <a:t>Predict &amp; Act</a:t>
                </a:r>
                <a:endParaRPr lang="en-US" sz="1250" dirty="0"/>
              </a:p>
            </p:txBody>
          </p:sp>
          <p:sp>
            <p:nvSpPr>
              <p:cNvPr id="26" name="Text 24">
                <a:extLst>
                  <a:ext uri="{FF2B5EF4-FFF2-40B4-BE49-F238E27FC236}">
                    <a16:creationId xmlns:a16="http://schemas.microsoft.com/office/drawing/2014/main" id="{060D152D-7147-AF85-C99E-D23F81026EEF}"/>
                  </a:ext>
                </a:extLst>
              </p:cNvPr>
              <p:cNvSpPr/>
              <p:nvPr/>
            </p:nvSpPr>
            <p:spPr>
              <a:xfrm>
                <a:off x="5376672" y="4123944"/>
                <a:ext cx="3520440" cy="594360"/>
              </a:xfrm>
              <a:prstGeom prst="rect">
                <a:avLst/>
              </a:prstGeom>
              <a:noFill/>
              <a:ln/>
            </p:spPr>
            <p:txBody>
              <a:bodyPr wrap="square" rtlCol="0" anchor="ctr"/>
              <a:lstStyle/>
              <a:p>
                <a:pPr marL="0" indent="0">
                  <a:buNone/>
                </a:pPr>
                <a:r>
                  <a:rPr lang="en-US" sz="1100" dirty="0">
                    <a:solidFill>
                      <a:srgbClr val="7F8C8D"/>
                    </a:solidFill>
                  </a:rPr>
                  <a:t>Using ADI, the system estimates when soil moisture will drop below safe levels and schedules watering.</a:t>
                </a:r>
                <a:endParaRPr lang="en-US" sz="1100" dirty="0"/>
              </a:p>
            </p:txBody>
          </p:sp>
        </p:grpSp>
      </p:grpSp>
      <p:pic>
        <p:nvPicPr>
          <p:cNvPr id="32" name="Picture 31">
            <a:extLst>
              <a:ext uri="{FF2B5EF4-FFF2-40B4-BE49-F238E27FC236}">
                <a16:creationId xmlns:a16="http://schemas.microsoft.com/office/drawing/2014/main" id="{E6304462-9CD4-1C06-BFF3-75577DC33BB8}"/>
              </a:ext>
            </a:extLst>
          </p:cNvPr>
          <p:cNvPicPr>
            <a:picLocks noChangeAspect="1"/>
          </p:cNvPicPr>
          <p:nvPr/>
        </p:nvPicPr>
        <p:blipFill>
          <a:blip r:embed="rId3" cstate="print">
            <a:extLst>
              <a:ext uri="{28A0092B-C50C-407E-A947-70E740481C1C}">
                <a14:useLocalDpi xmlns:a14="http://schemas.microsoft.com/office/drawing/2010/main" val="0"/>
              </a:ext>
            </a:extLst>
          </a:blip>
          <a:srcRect t="10236"/>
          <a:stretch>
            <a:fillRect/>
          </a:stretch>
        </p:blipFill>
        <p:spPr>
          <a:xfrm>
            <a:off x="4652097" y="889995"/>
            <a:ext cx="4402031" cy="2172494"/>
          </a:xfrm>
          <a:prstGeom prst="rect">
            <a:avLst/>
          </a:prstGeom>
        </p:spPr>
      </p:pic>
      <p:pic>
        <p:nvPicPr>
          <p:cNvPr id="5" name="Picture 4">
            <a:extLst>
              <a:ext uri="{FF2B5EF4-FFF2-40B4-BE49-F238E27FC236}">
                <a16:creationId xmlns:a16="http://schemas.microsoft.com/office/drawing/2014/main" id="{B174F9CF-EC83-FF84-1231-3C6057744E51}"/>
              </a:ext>
            </a:extLst>
          </p:cNvPr>
          <p:cNvPicPr>
            <a:picLocks noChangeAspect="1"/>
          </p:cNvPicPr>
          <p:nvPr/>
        </p:nvPicPr>
        <p:blipFill>
          <a:blip r:embed="rId4" cstate="print">
            <a:extLst>
              <a:ext uri="{28A0092B-C50C-407E-A947-70E740481C1C}">
                <a14:useLocalDpi xmlns:a14="http://schemas.microsoft.com/office/drawing/2010/main" val="0"/>
              </a:ext>
            </a:extLst>
          </a:blip>
          <a:srcRect l="13880" t="4913" r="22987" b="5233"/>
          <a:stretch>
            <a:fillRect/>
          </a:stretch>
        </p:blipFill>
        <p:spPr>
          <a:xfrm>
            <a:off x="705631" y="932688"/>
            <a:ext cx="3657600" cy="1849359"/>
          </a:xfrm>
          <a:prstGeom prst="rect">
            <a:avLst/>
          </a:prstGeom>
        </p:spPr>
      </p:pic>
    </p:spTree>
    <p:extLst>
      <p:ext uri="{BB962C8B-B14F-4D97-AF65-F5344CB8AC3E}">
        <p14:creationId xmlns:p14="http://schemas.microsoft.com/office/powerpoint/2010/main" val="1850745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BC9C"/>
          </a:solidFill>
          <a:ln/>
        </p:spPr>
        <p:txBody>
          <a:bodyPr/>
          <a:lstStyle/>
          <a:p>
            <a:endParaRPr lang="en-IN"/>
          </a:p>
        </p:txBody>
      </p:sp>
      <p:sp>
        <p:nvSpPr>
          <p:cNvPr id="3" name="Text 1"/>
          <p:cNvSpPr/>
          <p:nvPr/>
        </p:nvSpPr>
        <p:spPr>
          <a:xfrm>
            <a:off x="365760" y="109728"/>
            <a:ext cx="8412480" cy="603504"/>
          </a:xfrm>
          <a:prstGeom prst="rect">
            <a:avLst/>
          </a:prstGeom>
          <a:noFill/>
          <a:ln/>
        </p:spPr>
        <p:txBody>
          <a:bodyPr wrap="square" rtlCol="0" anchor="ctr"/>
          <a:lstStyle/>
          <a:p>
            <a:pPr marL="0" indent="0">
              <a:buNone/>
            </a:pPr>
            <a:r>
              <a:rPr lang="en-US" sz="2200" b="1" dirty="0">
                <a:solidFill>
                  <a:srgbClr val="FFFFFF"/>
                </a:solidFill>
              </a:rPr>
              <a:t>WHAT IS VPD AND WHY DOES IT MATTER?</a:t>
            </a:r>
            <a:endParaRPr lang="en-US" sz="2200" dirty="0"/>
          </a:p>
        </p:txBody>
      </p:sp>
      <p:sp>
        <p:nvSpPr>
          <p:cNvPr id="4" name="Shape 2"/>
          <p:cNvSpPr/>
          <p:nvPr/>
        </p:nvSpPr>
        <p:spPr>
          <a:xfrm>
            <a:off x="274320" y="960120"/>
            <a:ext cx="8595360" cy="1005840"/>
          </a:xfrm>
          <a:prstGeom prst="rect">
            <a:avLst/>
          </a:prstGeom>
          <a:solidFill>
            <a:srgbClr val="D5F5E3"/>
          </a:solidFill>
          <a:ln/>
          <a:effectLst>
            <a:outerShdw blurRad="101600" dist="38100" dir="8100000" algn="bl" rotWithShape="0">
              <a:srgbClr val="000000">
                <a:alpha val="10000"/>
              </a:srgbClr>
            </a:outerShdw>
          </a:effectLst>
        </p:spPr>
        <p:txBody>
          <a:bodyPr/>
          <a:lstStyle/>
          <a:p>
            <a:endParaRPr lang="en-IN"/>
          </a:p>
        </p:txBody>
      </p:sp>
      <p:sp>
        <p:nvSpPr>
          <p:cNvPr id="5" name="Text 3"/>
          <p:cNvSpPr/>
          <p:nvPr/>
        </p:nvSpPr>
        <p:spPr>
          <a:xfrm>
            <a:off x="457200" y="1024128"/>
            <a:ext cx="8229600" cy="365760"/>
          </a:xfrm>
          <a:prstGeom prst="rect">
            <a:avLst/>
          </a:prstGeom>
          <a:noFill/>
          <a:ln/>
        </p:spPr>
        <p:txBody>
          <a:bodyPr wrap="square" rtlCol="0" anchor="ctr"/>
          <a:lstStyle/>
          <a:p>
            <a:pPr marL="0" indent="0">
              <a:buNone/>
            </a:pPr>
            <a:r>
              <a:rPr lang="en-US" sz="1400" b="1" dirty="0">
                <a:solidFill>
                  <a:srgbClr val="1A9E57"/>
                </a:solidFill>
              </a:rPr>
              <a:t>VPD stands for Vapour Pressure Deficit — it tells us how 'thirsty' the air is.</a:t>
            </a:r>
            <a:endParaRPr lang="en-US" sz="1400" dirty="0"/>
          </a:p>
        </p:txBody>
      </p:sp>
      <p:sp>
        <p:nvSpPr>
          <p:cNvPr id="6" name="Text 4"/>
          <p:cNvSpPr/>
          <p:nvPr/>
        </p:nvSpPr>
        <p:spPr>
          <a:xfrm>
            <a:off x="457200" y="1389888"/>
            <a:ext cx="8229600" cy="502920"/>
          </a:xfrm>
          <a:prstGeom prst="rect">
            <a:avLst/>
          </a:prstGeom>
          <a:noFill/>
          <a:ln/>
        </p:spPr>
        <p:txBody>
          <a:bodyPr wrap="square" rtlCol="0" anchor="ctr"/>
          <a:lstStyle/>
          <a:p>
            <a:pPr marL="0" indent="0">
              <a:buNone/>
            </a:pPr>
            <a:r>
              <a:rPr lang="en-US" sz="1200" dirty="0">
                <a:solidFill>
                  <a:srgbClr val="2C3E50"/>
                </a:solidFill>
              </a:rPr>
              <a:t>When the air is hot and dry, it pulls water out of plants very fast. This is HIGH VPD. When the air is cool and humid, plants lose water slowly. This is LOW VPD.</a:t>
            </a:r>
            <a:endParaRPr lang="en-US" sz="1200" dirty="0"/>
          </a:p>
        </p:txBody>
      </p:sp>
      <p:sp>
        <p:nvSpPr>
          <p:cNvPr id="7" name="Shape 5"/>
          <p:cNvSpPr/>
          <p:nvPr/>
        </p:nvSpPr>
        <p:spPr>
          <a:xfrm>
            <a:off x="274320" y="2148840"/>
            <a:ext cx="1993392" cy="2788920"/>
          </a:xfrm>
          <a:prstGeom prst="rect">
            <a:avLst/>
          </a:prstGeom>
          <a:solidFill>
            <a:srgbClr val="D6EAF8"/>
          </a:solidFill>
          <a:ln/>
          <a:effectLst>
            <a:outerShdw blurRad="101600" dist="38100" dir="8100000" algn="bl" rotWithShape="0">
              <a:srgbClr val="000000">
                <a:alpha val="10000"/>
              </a:srgbClr>
            </a:outerShdw>
          </a:effectLst>
        </p:spPr>
        <p:txBody>
          <a:bodyPr/>
          <a:lstStyle/>
          <a:p>
            <a:endParaRPr lang="en-IN"/>
          </a:p>
        </p:txBody>
      </p:sp>
      <p:sp>
        <p:nvSpPr>
          <p:cNvPr id="8" name="Shape 6"/>
          <p:cNvSpPr/>
          <p:nvPr/>
        </p:nvSpPr>
        <p:spPr>
          <a:xfrm>
            <a:off x="274320" y="2148840"/>
            <a:ext cx="1993392" cy="73152"/>
          </a:xfrm>
          <a:prstGeom prst="rect">
            <a:avLst/>
          </a:prstGeom>
          <a:solidFill>
            <a:srgbClr val="3498DB"/>
          </a:solidFill>
          <a:ln/>
        </p:spPr>
        <p:txBody>
          <a:bodyPr/>
          <a:lstStyle/>
          <a:p>
            <a:endParaRPr lang="en-IN"/>
          </a:p>
        </p:txBody>
      </p:sp>
      <p:sp>
        <p:nvSpPr>
          <p:cNvPr id="9" name="Text 7"/>
          <p:cNvSpPr/>
          <p:nvPr/>
        </p:nvSpPr>
        <p:spPr>
          <a:xfrm>
            <a:off x="365760" y="2286000"/>
            <a:ext cx="1828800" cy="411480"/>
          </a:xfrm>
          <a:prstGeom prst="rect">
            <a:avLst/>
          </a:prstGeom>
          <a:noFill/>
          <a:ln/>
        </p:spPr>
        <p:txBody>
          <a:bodyPr wrap="square" rtlCol="0" anchor="ctr"/>
          <a:lstStyle/>
          <a:p>
            <a:pPr marL="0" indent="0">
              <a:buNone/>
            </a:pPr>
            <a:r>
              <a:rPr lang="en-US" sz="1200" b="1" dirty="0">
                <a:solidFill>
                  <a:srgbClr val="2C3E50"/>
                </a:solidFill>
              </a:rPr>
              <a:t>Very Low VPD</a:t>
            </a:r>
            <a:endParaRPr lang="en-US" sz="1200" dirty="0"/>
          </a:p>
        </p:txBody>
      </p:sp>
      <p:sp>
        <p:nvSpPr>
          <p:cNvPr id="10" name="Text 8"/>
          <p:cNvSpPr/>
          <p:nvPr/>
        </p:nvSpPr>
        <p:spPr>
          <a:xfrm>
            <a:off x="365760" y="2715768"/>
            <a:ext cx="1828800" cy="292608"/>
          </a:xfrm>
          <a:prstGeom prst="rect">
            <a:avLst/>
          </a:prstGeom>
          <a:noFill/>
          <a:ln/>
        </p:spPr>
        <p:txBody>
          <a:bodyPr wrap="square" rtlCol="0" anchor="ctr"/>
          <a:lstStyle/>
          <a:p>
            <a:pPr marL="0" indent="0">
              <a:buNone/>
            </a:pPr>
            <a:r>
              <a:rPr lang="en-US" sz="1050" i="1" dirty="0">
                <a:solidFill>
                  <a:srgbClr val="7F8C8D"/>
                </a:solidFill>
              </a:rPr>
              <a:t>Cool, humid air</a:t>
            </a:r>
            <a:endParaRPr lang="en-US" sz="1050" dirty="0"/>
          </a:p>
        </p:txBody>
      </p:sp>
      <p:sp>
        <p:nvSpPr>
          <p:cNvPr id="11" name="Shape 9"/>
          <p:cNvSpPr/>
          <p:nvPr/>
        </p:nvSpPr>
        <p:spPr>
          <a:xfrm>
            <a:off x="365760" y="3063240"/>
            <a:ext cx="1737360" cy="36576"/>
          </a:xfrm>
          <a:prstGeom prst="rect">
            <a:avLst/>
          </a:prstGeom>
          <a:solidFill>
            <a:srgbClr val="3498DB"/>
          </a:solidFill>
          <a:ln/>
        </p:spPr>
        <p:txBody>
          <a:bodyPr/>
          <a:lstStyle/>
          <a:p>
            <a:endParaRPr lang="en-IN"/>
          </a:p>
        </p:txBody>
      </p:sp>
      <p:sp>
        <p:nvSpPr>
          <p:cNvPr id="12" name="Text 10"/>
          <p:cNvSpPr/>
          <p:nvPr/>
        </p:nvSpPr>
        <p:spPr>
          <a:xfrm>
            <a:off x="365760" y="3145536"/>
            <a:ext cx="1828800" cy="256032"/>
          </a:xfrm>
          <a:prstGeom prst="rect">
            <a:avLst/>
          </a:prstGeom>
          <a:noFill/>
          <a:ln/>
        </p:spPr>
        <p:txBody>
          <a:bodyPr wrap="square" rtlCol="0" anchor="ctr"/>
          <a:lstStyle/>
          <a:p>
            <a:pPr marL="0" indent="0">
              <a:buNone/>
            </a:pPr>
            <a:r>
              <a:rPr lang="en-US" sz="1050" b="1" dirty="0">
                <a:solidFill>
                  <a:srgbClr val="2C3E50"/>
                </a:solidFill>
              </a:rPr>
              <a:t>Action:</a:t>
            </a:r>
            <a:endParaRPr lang="en-US" sz="1050" dirty="0"/>
          </a:p>
        </p:txBody>
      </p:sp>
      <p:sp>
        <p:nvSpPr>
          <p:cNvPr id="13" name="Text 11"/>
          <p:cNvSpPr/>
          <p:nvPr/>
        </p:nvSpPr>
        <p:spPr>
          <a:xfrm>
            <a:off x="365760" y="3401568"/>
            <a:ext cx="1828800" cy="1371600"/>
          </a:xfrm>
          <a:prstGeom prst="rect">
            <a:avLst/>
          </a:prstGeom>
          <a:noFill/>
          <a:ln/>
        </p:spPr>
        <p:txBody>
          <a:bodyPr wrap="square" rtlCol="0" anchor="ctr"/>
          <a:lstStyle/>
          <a:p>
            <a:pPr marL="0" indent="0">
              <a:buNone/>
            </a:pPr>
            <a:r>
              <a:rPr lang="en-US" sz="1050" dirty="0">
                <a:solidFill>
                  <a:srgbClr val="2C3E50"/>
                </a:solidFill>
              </a:rPr>
              <a:t>Skip irrigation — plants are comfortable</a:t>
            </a:r>
            <a:endParaRPr lang="en-US" sz="1050" dirty="0"/>
          </a:p>
        </p:txBody>
      </p:sp>
      <p:sp>
        <p:nvSpPr>
          <p:cNvPr id="14" name="Shape 12"/>
          <p:cNvSpPr/>
          <p:nvPr/>
        </p:nvSpPr>
        <p:spPr>
          <a:xfrm>
            <a:off x="2450592" y="2148840"/>
            <a:ext cx="1993392" cy="2788920"/>
          </a:xfrm>
          <a:prstGeom prst="rect">
            <a:avLst/>
          </a:prstGeom>
          <a:solidFill>
            <a:srgbClr val="D5F5E3"/>
          </a:solidFill>
          <a:ln/>
          <a:effectLst>
            <a:outerShdw blurRad="101600" dist="38100" dir="8100000" algn="bl" rotWithShape="0">
              <a:srgbClr val="000000">
                <a:alpha val="10000"/>
              </a:srgbClr>
            </a:outerShdw>
          </a:effectLst>
        </p:spPr>
        <p:txBody>
          <a:bodyPr/>
          <a:lstStyle/>
          <a:p>
            <a:endParaRPr lang="en-IN"/>
          </a:p>
        </p:txBody>
      </p:sp>
      <p:sp>
        <p:nvSpPr>
          <p:cNvPr id="15" name="Shape 13"/>
          <p:cNvSpPr/>
          <p:nvPr/>
        </p:nvSpPr>
        <p:spPr>
          <a:xfrm>
            <a:off x="2450592" y="2148840"/>
            <a:ext cx="1993392" cy="73152"/>
          </a:xfrm>
          <a:prstGeom prst="rect">
            <a:avLst/>
          </a:prstGeom>
          <a:solidFill>
            <a:srgbClr val="2ECC71"/>
          </a:solidFill>
          <a:ln/>
        </p:spPr>
        <p:txBody>
          <a:bodyPr/>
          <a:lstStyle/>
          <a:p>
            <a:endParaRPr lang="en-IN"/>
          </a:p>
        </p:txBody>
      </p:sp>
      <p:sp>
        <p:nvSpPr>
          <p:cNvPr id="16" name="Text 14"/>
          <p:cNvSpPr/>
          <p:nvPr/>
        </p:nvSpPr>
        <p:spPr>
          <a:xfrm>
            <a:off x="2542032" y="2286000"/>
            <a:ext cx="1828800" cy="411480"/>
          </a:xfrm>
          <a:prstGeom prst="rect">
            <a:avLst/>
          </a:prstGeom>
          <a:noFill/>
          <a:ln/>
        </p:spPr>
        <p:txBody>
          <a:bodyPr wrap="square" rtlCol="0" anchor="ctr"/>
          <a:lstStyle/>
          <a:p>
            <a:pPr marL="0" indent="0">
              <a:buNone/>
            </a:pPr>
            <a:r>
              <a:rPr lang="en-US" sz="1200" b="1" dirty="0">
                <a:solidFill>
                  <a:srgbClr val="2C3E50"/>
                </a:solidFill>
              </a:rPr>
              <a:t>Medium VPD</a:t>
            </a:r>
            <a:endParaRPr lang="en-US" sz="1200" dirty="0"/>
          </a:p>
        </p:txBody>
      </p:sp>
      <p:sp>
        <p:nvSpPr>
          <p:cNvPr id="17" name="Text 15"/>
          <p:cNvSpPr/>
          <p:nvPr/>
        </p:nvSpPr>
        <p:spPr>
          <a:xfrm>
            <a:off x="2542032" y="2715768"/>
            <a:ext cx="1828800" cy="292608"/>
          </a:xfrm>
          <a:prstGeom prst="rect">
            <a:avLst/>
          </a:prstGeom>
          <a:noFill/>
          <a:ln/>
        </p:spPr>
        <p:txBody>
          <a:bodyPr wrap="square" rtlCol="0" anchor="ctr"/>
          <a:lstStyle/>
          <a:p>
            <a:pPr marL="0" indent="0">
              <a:buNone/>
            </a:pPr>
            <a:r>
              <a:rPr lang="en-US" sz="1050" i="1" dirty="0">
                <a:solidFill>
                  <a:srgbClr val="7F8C8D"/>
                </a:solidFill>
              </a:rPr>
              <a:t>Warm, partly humid</a:t>
            </a:r>
            <a:endParaRPr lang="en-US" sz="1050" dirty="0"/>
          </a:p>
        </p:txBody>
      </p:sp>
      <p:sp>
        <p:nvSpPr>
          <p:cNvPr id="18" name="Shape 16"/>
          <p:cNvSpPr/>
          <p:nvPr/>
        </p:nvSpPr>
        <p:spPr>
          <a:xfrm>
            <a:off x="2542032" y="3063240"/>
            <a:ext cx="1737360" cy="36576"/>
          </a:xfrm>
          <a:prstGeom prst="rect">
            <a:avLst/>
          </a:prstGeom>
          <a:solidFill>
            <a:srgbClr val="2ECC71"/>
          </a:solidFill>
          <a:ln/>
        </p:spPr>
        <p:txBody>
          <a:bodyPr/>
          <a:lstStyle/>
          <a:p>
            <a:endParaRPr lang="en-IN"/>
          </a:p>
        </p:txBody>
      </p:sp>
      <p:sp>
        <p:nvSpPr>
          <p:cNvPr id="19" name="Text 17"/>
          <p:cNvSpPr/>
          <p:nvPr/>
        </p:nvSpPr>
        <p:spPr>
          <a:xfrm>
            <a:off x="2542032" y="3145536"/>
            <a:ext cx="1828800" cy="256032"/>
          </a:xfrm>
          <a:prstGeom prst="rect">
            <a:avLst/>
          </a:prstGeom>
          <a:noFill/>
          <a:ln/>
        </p:spPr>
        <p:txBody>
          <a:bodyPr wrap="square" rtlCol="0" anchor="ctr"/>
          <a:lstStyle/>
          <a:p>
            <a:pPr marL="0" indent="0">
              <a:buNone/>
            </a:pPr>
            <a:r>
              <a:rPr lang="en-US" sz="1050" b="1" dirty="0">
                <a:solidFill>
                  <a:srgbClr val="2C3E50"/>
                </a:solidFill>
              </a:rPr>
              <a:t>Action:</a:t>
            </a:r>
            <a:endParaRPr lang="en-US" sz="1050" dirty="0"/>
          </a:p>
        </p:txBody>
      </p:sp>
      <p:sp>
        <p:nvSpPr>
          <p:cNvPr id="20" name="Text 18"/>
          <p:cNvSpPr/>
          <p:nvPr/>
        </p:nvSpPr>
        <p:spPr>
          <a:xfrm>
            <a:off x="2542032" y="3401568"/>
            <a:ext cx="1828800" cy="1371600"/>
          </a:xfrm>
          <a:prstGeom prst="rect">
            <a:avLst/>
          </a:prstGeom>
          <a:noFill/>
          <a:ln/>
        </p:spPr>
        <p:txBody>
          <a:bodyPr wrap="square" rtlCol="0" anchor="ctr"/>
          <a:lstStyle/>
          <a:p>
            <a:pPr marL="0" indent="0">
              <a:buNone/>
            </a:pPr>
            <a:r>
              <a:rPr lang="en-US" sz="1050" dirty="0">
                <a:solidFill>
                  <a:srgbClr val="2C3E50"/>
                </a:solidFill>
              </a:rPr>
              <a:t>Irrigate at the scheduled morning/evening time</a:t>
            </a:r>
            <a:endParaRPr lang="en-US" sz="1050" dirty="0"/>
          </a:p>
        </p:txBody>
      </p:sp>
      <p:sp>
        <p:nvSpPr>
          <p:cNvPr id="21" name="Shape 19"/>
          <p:cNvSpPr/>
          <p:nvPr/>
        </p:nvSpPr>
        <p:spPr>
          <a:xfrm>
            <a:off x="4626864" y="2148840"/>
            <a:ext cx="1993392" cy="2788920"/>
          </a:xfrm>
          <a:prstGeom prst="rect">
            <a:avLst/>
          </a:prstGeom>
          <a:solidFill>
            <a:srgbClr val="FEF9E7"/>
          </a:solidFill>
          <a:ln/>
          <a:effectLst>
            <a:outerShdw blurRad="101600" dist="38100" dir="8100000" algn="bl" rotWithShape="0">
              <a:srgbClr val="000000">
                <a:alpha val="10000"/>
              </a:srgbClr>
            </a:outerShdw>
          </a:effectLst>
        </p:spPr>
        <p:txBody>
          <a:bodyPr/>
          <a:lstStyle/>
          <a:p>
            <a:endParaRPr lang="en-IN"/>
          </a:p>
        </p:txBody>
      </p:sp>
      <p:sp>
        <p:nvSpPr>
          <p:cNvPr id="22" name="Shape 20"/>
          <p:cNvSpPr/>
          <p:nvPr/>
        </p:nvSpPr>
        <p:spPr>
          <a:xfrm>
            <a:off x="4626864" y="2148840"/>
            <a:ext cx="1993392" cy="73152"/>
          </a:xfrm>
          <a:prstGeom prst="rect">
            <a:avLst/>
          </a:prstGeom>
          <a:solidFill>
            <a:srgbClr val="F39C12"/>
          </a:solidFill>
          <a:ln/>
        </p:spPr>
        <p:txBody>
          <a:bodyPr/>
          <a:lstStyle/>
          <a:p>
            <a:endParaRPr lang="en-IN"/>
          </a:p>
        </p:txBody>
      </p:sp>
      <p:sp>
        <p:nvSpPr>
          <p:cNvPr id="23" name="Text 21"/>
          <p:cNvSpPr/>
          <p:nvPr/>
        </p:nvSpPr>
        <p:spPr>
          <a:xfrm>
            <a:off x="4718304" y="2286000"/>
            <a:ext cx="1828800" cy="411480"/>
          </a:xfrm>
          <a:prstGeom prst="rect">
            <a:avLst/>
          </a:prstGeom>
          <a:noFill/>
          <a:ln/>
        </p:spPr>
        <p:txBody>
          <a:bodyPr wrap="square" rtlCol="0" anchor="ctr"/>
          <a:lstStyle/>
          <a:p>
            <a:pPr marL="0" indent="0">
              <a:buNone/>
            </a:pPr>
            <a:r>
              <a:rPr lang="en-US" sz="1200" b="1" dirty="0">
                <a:solidFill>
                  <a:srgbClr val="2C3E50"/>
                </a:solidFill>
              </a:rPr>
              <a:t>High VPD</a:t>
            </a:r>
            <a:endParaRPr lang="en-US" sz="1200" dirty="0"/>
          </a:p>
        </p:txBody>
      </p:sp>
      <p:sp>
        <p:nvSpPr>
          <p:cNvPr id="24" name="Text 22"/>
          <p:cNvSpPr/>
          <p:nvPr/>
        </p:nvSpPr>
        <p:spPr>
          <a:xfrm>
            <a:off x="4718304" y="2715768"/>
            <a:ext cx="1828800" cy="292608"/>
          </a:xfrm>
          <a:prstGeom prst="rect">
            <a:avLst/>
          </a:prstGeom>
          <a:noFill/>
          <a:ln/>
        </p:spPr>
        <p:txBody>
          <a:bodyPr wrap="square" rtlCol="0" anchor="ctr"/>
          <a:lstStyle/>
          <a:p>
            <a:pPr marL="0" indent="0">
              <a:buNone/>
            </a:pPr>
            <a:r>
              <a:rPr lang="en-US" sz="1050" i="1" dirty="0">
                <a:solidFill>
                  <a:srgbClr val="7F8C8D"/>
                </a:solidFill>
              </a:rPr>
              <a:t>Hot, dry air</a:t>
            </a:r>
            <a:endParaRPr lang="en-US" sz="1050" dirty="0"/>
          </a:p>
        </p:txBody>
      </p:sp>
      <p:sp>
        <p:nvSpPr>
          <p:cNvPr id="25" name="Shape 23"/>
          <p:cNvSpPr/>
          <p:nvPr/>
        </p:nvSpPr>
        <p:spPr>
          <a:xfrm>
            <a:off x="4718304" y="3063240"/>
            <a:ext cx="1737360" cy="36576"/>
          </a:xfrm>
          <a:prstGeom prst="rect">
            <a:avLst/>
          </a:prstGeom>
          <a:solidFill>
            <a:srgbClr val="F39C12"/>
          </a:solidFill>
          <a:ln/>
        </p:spPr>
        <p:txBody>
          <a:bodyPr/>
          <a:lstStyle/>
          <a:p>
            <a:endParaRPr lang="en-IN"/>
          </a:p>
        </p:txBody>
      </p:sp>
      <p:sp>
        <p:nvSpPr>
          <p:cNvPr id="26" name="Text 24"/>
          <p:cNvSpPr/>
          <p:nvPr/>
        </p:nvSpPr>
        <p:spPr>
          <a:xfrm>
            <a:off x="4718304" y="3145536"/>
            <a:ext cx="1828800" cy="256032"/>
          </a:xfrm>
          <a:prstGeom prst="rect">
            <a:avLst/>
          </a:prstGeom>
          <a:noFill/>
          <a:ln/>
        </p:spPr>
        <p:txBody>
          <a:bodyPr wrap="square" rtlCol="0" anchor="ctr"/>
          <a:lstStyle/>
          <a:p>
            <a:pPr marL="0" indent="0">
              <a:buNone/>
            </a:pPr>
            <a:r>
              <a:rPr lang="en-US" sz="1050" b="1" dirty="0">
                <a:solidFill>
                  <a:srgbClr val="2C3E50"/>
                </a:solidFill>
              </a:rPr>
              <a:t>Action:</a:t>
            </a:r>
            <a:endParaRPr lang="en-US" sz="1050" dirty="0"/>
          </a:p>
        </p:txBody>
      </p:sp>
      <p:sp>
        <p:nvSpPr>
          <p:cNvPr id="27" name="Text 25"/>
          <p:cNvSpPr/>
          <p:nvPr/>
        </p:nvSpPr>
        <p:spPr>
          <a:xfrm>
            <a:off x="4718304" y="3401568"/>
            <a:ext cx="1828800" cy="1371600"/>
          </a:xfrm>
          <a:prstGeom prst="rect">
            <a:avLst/>
          </a:prstGeom>
          <a:noFill/>
          <a:ln/>
        </p:spPr>
        <p:txBody>
          <a:bodyPr wrap="square" rtlCol="0" anchor="ctr"/>
          <a:lstStyle/>
          <a:p>
            <a:pPr marL="0" indent="0">
              <a:buNone/>
            </a:pPr>
            <a:r>
              <a:rPr lang="en-US" sz="1050" dirty="0">
                <a:solidFill>
                  <a:srgbClr val="2C3E50"/>
                </a:solidFill>
              </a:rPr>
              <a:t>Irrigate earlier and give a bit more water</a:t>
            </a:r>
            <a:endParaRPr lang="en-US" sz="1050" dirty="0"/>
          </a:p>
        </p:txBody>
      </p:sp>
      <p:sp>
        <p:nvSpPr>
          <p:cNvPr id="28" name="Shape 26"/>
          <p:cNvSpPr/>
          <p:nvPr/>
        </p:nvSpPr>
        <p:spPr>
          <a:xfrm>
            <a:off x="6803136" y="2148840"/>
            <a:ext cx="1993392" cy="2788920"/>
          </a:xfrm>
          <a:prstGeom prst="rect">
            <a:avLst/>
          </a:prstGeom>
          <a:solidFill>
            <a:srgbClr val="FADBD8"/>
          </a:solidFill>
          <a:ln/>
          <a:effectLst>
            <a:outerShdw blurRad="101600" dist="38100" dir="8100000" algn="bl" rotWithShape="0">
              <a:srgbClr val="000000">
                <a:alpha val="10000"/>
              </a:srgbClr>
            </a:outerShdw>
          </a:effectLst>
        </p:spPr>
        <p:txBody>
          <a:bodyPr/>
          <a:lstStyle/>
          <a:p>
            <a:endParaRPr lang="en-IN"/>
          </a:p>
        </p:txBody>
      </p:sp>
      <p:sp>
        <p:nvSpPr>
          <p:cNvPr id="29" name="Shape 27"/>
          <p:cNvSpPr/>
          <p:nvPr/>
        </p:nvSpPr>
        <p:spPr>
          <a:xfrm>
            <a:off x="6803136" y="2148840"/>
            <a:ext cx="1993392" cy="73152"/>
          </a:xfrm>
          <a:prstGeom prst="rect">
            <a:avLst/>
          </a:prstGeom>
          <a:solidFill>
            <a:srgbClr val="E74C3C"/>
          </a:solidFill>
          <a:ln/>
        </p:spPr>
        <p:txBody>
          <a:bodyPr/>
          <a:lstStyle/>
          <a:p>
            <a:endParaRPr lang="en-IN"/>
          </a:p>
        </p:txBody>
      </p:sp>
      <p:sp>
        <p:nvSpPr>
          <p:cNvPr id="30" name="Text 28"/>
          <p:cNvSpPr/>
          <p:nvPr/>
        </p:nvSpPr>
        <p:spPr>
          <a:xfrm>
            <a:off x="6894576" y="2286000"/>
            <a:ext cx="1828800" cy="411480"/>
          </a:xfrm>
          <a:prstGeom prst="rect">
            <a:avLst/>
          </a:prstGeom>
          <a:noFill/>
          <a:ln/>
        </p:spPr>
        <p:txBody>
          <a:bodyPr wrap="square" rtlCol="0" anchor="ctr"/>
          <a:lstStyle/>
          <a:p>
            <a:pPr marL="0" indent="0">
              <a:buNone/>
            </a:pPr>
            <a:r>
              <a:rPr lang="en-US" sz="1200" b="1" dirty="0">
                <a:solidFill>
                  <a:srgbClr val="2C3E50"/>
                </a:solidFill>
              </a:rPr>
              <a:t>Very High VPD</a:t>
            </a:r>
            <a:endParaRPr lang="en-US" sz="1200" dirty="0"/>
          </a:p>
        </p:txBody>
      </p:sp>
      <p:sp>
        <p:nvSpPr>
          <p:cNvPr id="31" name="Text 29"/>
          <p:cNvSpPr/>
          <p:nvPr/>
        </p:nvSpPr>
        <p:spPr>
          <a:xfrm>
            <a:off x="6894576" y="2715768"/>
            <a:ext cx="1828800" cy="292608"/>
          </a:xfrm>
          <a:prstGeom prst="rect">
            <a:avLst/>
          </a:prstGeom>
          <a:noFill/>
          <a:ln/>
        </p:spPr>
        <p:txBody>
          <a:bodyPr wrap="square" rtlCol="0" anchor="ctr"/>
          <a:lstStyle/>
          <a:p>
            <a:pPr marL="0" indent="0">
              <a:buNone/>
            </a:pPr>
            <a:r>
              <a:rPr lang="en-US" sz="1050" i="1" dirty="0">
                <a:solidFill>
                  <a:srgbClr val="7F8C8D"/>
                </a:solidFill>
              </a:rPr>
              <a:t>Very hot, very dry</a:t>
            </a:r>
            <a:endParaRPr lang="en-US" sz="1050" dirty="0"/>
          </a:p>
        </p:txBody>
      </p:sp>
      <p:sp>
        <p:nvSpPr>
          <p:cNvPr id="32" name="Shape 30"/>
          <p:cNvSpPr/>
          <p:nvPr/>
        </p:nvSpPr>
        <p:spPr>
          <a:xfrm>
            <a:off x="6894576" y="3063240"/>
            <a:ext cx="1737360" cy="36576"/>
          </a:xfrm>
          <a:prstGeom prst="rect">
            <a:avLst/>
          </a:prstGeom>
          <a:solidFill>
            <a:srgbClr val="E74C3C"/>
          </a:solidFill>
          <a:ln/>
        </p:spPr>
        <p:txBody>
          <a:bodyPr/>
          <a:lstStyle/>
          <a:p>
            <a:endParaRPr lang="en-IN"/>
          </a:p>
        </p:txBody>
      </p:sp>
      <p:sp>
        <p:nvSpPr>
          <p:cNvPr id="33" name="Text 31"/>
          <p:cNvSpPr/>
          <p:nvPr/>
        </p:nvSpPr>
        <p:spPr>
          <a:xfrm>
            <a:off x="6894576" y="3145536"/>
            <a:ext cx="1828800" cy="256032"/>
          </a:xfrm>
          <a:prstGeom prst="rect">
            <a:avLst/>
          </a:prstGeom>
          <a:noFill/>
          <a:ln/>
        </p:spPr>
        <p:txBody>
          <a:bodyPr wrap="square" rtlCol="0" anchor="ctr"/>
          <a:lstStyle/>
          <a:p>
            <a:pPr marL="0" indent="0">
              <a:buNone/>
            </a:pPr>
            <a:r>
              <a:rPr lang="en-US" sz="1050" b="1" dirty="0">
                <a:solidFill>
                  <a:srgbClr val="2C3E50"/>
                </a:solidFill>
              </a:rPr>
              <a:t>Action:</a:t>
            </a:r>
            <a:endParaRPr lang="en-US" sz="1050" dirty="0"/>
          </a:p>
        </p:txBody>
      </p:sp>
      <p:sp>
        <p:nvSpPr>
          <p:cNvPr id="34" name="Text 32"/>
          <p:cNvSpPr/>
          <p:nvPr/>
        </p:nvSpPr>
        <p:spPr>
          <a:xfrm>
            <a:off x="6894576" y="3401568"/>
            <a:ext cx="1828800" cy="1371600"/>
          </a:xfrm>
          <a:prstGeom prst="rect">
            <a:avLst/>
          </a:prstGeom>
          <a:noFill/>
          <a:ln/>
        </p:spPr>
        <p:txBody>
          <a:bodyPr wrap="square" rtlCol="0" anchor="ctr"/>
          <a:lstStyle/>
          <a:p>
            <a:pPr marL="0" indent="0">
              <a:buNone/>
            </a:pPr>
            <a:r>
              <a:rPr lang="en-US" sz="1050" dirty="0">
                <a:solidFill>
                  <a:srgbClr val="2C3E50"/>
                </a:solidFill>
              </a:rPr>
              <a:t>Trigger emergency irrigation to protect crops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498DB"/>
          </a:solidFill>
          <a:ln/>
        </p:spPr>
        <p:txBody>
          <a:bodyPr/>
          <a:lstStyle/>
          <a:p>
            <a:endParaRPr lang="en-IN"/>
          </a:p>
        </p:txBody>
      </p:sp>
      <p:sp>
        <p:nvSpPr>
          <p:cNvPr id="3" name="Text 1"/>
          <p:cNvSpPr/>
          <p:nvPr/>
        </p:nvSpPr>
        <p:spPr>
          <a:xfrm>
            <a:off x="365760" y="109728"/>
            <a:ext cx="8412480" cy="603504"/>
          </a:xfrm>
          <a:prstGeom prst="rect">
            <a:avLst/>
          </a:prstGeom>
          <a:noFill/>
          <a:ln/>
        </p:spPr>
        <p:txBody>
          <a:bodyPr wrap="square" rtlCol="0" anchor="ctr"/>
          <a:lstStyle/>
          <a:p>
            <a:pPr marL="0" indent="0">
              <a:buNone/>
            </a:pPr>
            <a:r>
              <a:rPr lang="en-US" sz="2200" b="1" dirty="0">
                <a:solidFill>
                  <a:srgbClr val="FFFFFF"/>
                </a:solidFill>
              </a:rPr>
              <a:t>REMOTE MONITORING — IOT DASHBOARD</a:t>
            </a:r>
            <a:endParaRPr lang="en-US" sz="2200" dirty="0"/>
          </a:p>
        </p:txBody>
      </p:sp>
      <p:sp>
        <p:nvSpPr>
          <p:cNvPr id="4" name="Shape 2"/>
          <p:cNvSpPr/>
          <p:nvPr/>
        </p:nvSpPr>
        <p:spPr>
          <a:xfrm>
            <a:off x="274320" y="914400"/>
            <a:ext cx="8595360" cy="685800"/>
          </a:xfrm>
          <a:prstGeom prst="rect">
            <a:avLst/>
          </a:prstGeom>
          <a:solidFill>
            <a:srgbClr val="D6EAF8"/>
          </a:solidFill>
          <a:ln/>
          <a:effectLst>
            <a:outerShdw blurRad="101600" dist="38100" dir="8100000" algn="bl" rotWithShape="0">
              <a:srgbClr val="000000">
                <a:alpha val="10000"/>
              </a:srgbClr>
            </a:outerShdw>
          </a:effectLst>
        </p:spPr>
        <p:txBody>
          <a:bodyPr/>
          <a:lstStyle/>
          <a:p>
            <a:endParaRPr lang="en-IN"/>
          </a:p>
        </p:txBody>
      </p:sp>
      <p:sp>
        <p:nvSpPr>
          <p:cNvPr id="5" name="Text 3"/>
          <p:cNvSpPr/>
          <p:nvPr/>
        </p:nvSpPr>
        <p:spPr>
          <a:xfrm>
            <a:off x="457200" y="987552"/>
            <a:ext cx="8229600" cy="548640"/>
          </a:xfrm>
          <a:prstGeom prst="rect">
            <a:avLst/>
          </a:prstGeom>
          <a:noFill/>
          <a:ln/>
        </p:spPr>
        <p:txBody>
          <a:bodyPr wrap="square" rtlCol="0" anchor="ctr"/>
          <a:lstStyle/>
          <a:p>
            <a:pPr marL="0" indent="0">
              <a:buNone/>
            </a:pPr>
            <a:r>
              <a:rPr lang="en-US" sz="1200" dirty="0">
                <a:solidFill>
                  <a:srgbClr val="2C3E50"/>
                </a:solidFill>
              </a:rPr>
              <a:t>Farmers and managers can view all sensor data live on Adafruit IO — from any phone, tablet, or computer. Data is updated every 5 minutes automatically.</a:t>
            </a:r>
            <a:endParaRPr lang="en-US" sz="1200" dirty="0"/>
          </a:p>
        </p:txBody>
      </p:sp>
      <p:sp>
        <p:nvSpPr>
          <p:cNvPr id="6" name="Shape 4"/>
          <p:cNvSpPr/>
          <p:nvPr/>
        </p:nvSpPr>
        <p:spPr>
          <a:xfrm>
            <a:off x="274320" y="1783080"/>
            <a:ext cx="2743200" cy="1371600"/>
          </a:xfrm>
          <a:prstGeom prst="rect">
            <a:avLst/>
          </a:prstGeom>
          <a:solidFill>
            <a:srgbClr val="F8FFFE"/>
          </a:solidFill>
          <a:ln/>
          <a:effectLst>
            <a:outerShdw blurRad="101600" dist="38100" dir="8100000" algn="bl" rotWithShape="0">
              <a:srgbClr val="000000">
                <a:alpha val="10000"/>
              </a:srgbClr>
            </a:outerShdw>
          </a:effectLst>
        </p:spPr>
        <p:txBody>
          <a:bodyPr/>
          <a:lstStyle/>
          <a:p>
            <a:endParaRPr lang="en-IN"/>
          </a:p>
        </p:txBody>
      </p:sp>
      <p:sp>
        <p:nvSpPr>
          <p:cNvPr id="7" name="Shape 5"/>
          <p:cNvSpPr/>
          <p:nvPr/>
        </p:nvSpPr>
        <p:spPr>
          <a:xfrm>
            <a:off x="274320" y="1783080"/>
            <a:ext cx="109728" cy="1371600"/>
          </a:xfrm>
          <a:prstGeom prst="rect">
            <a:avLst/>
          </a:prstGeom>
          <a:solidFill>
            <a:srgbClr val="2ECC71"/>
          </a:solidFill>
          <a:ln/>
        </p:spPr>
        <p:txBody>
          <a:bodyPr/>
          <a:lstStyle/>
          <a:p>
            <a:endParaRPr lang="en-IN"/>
          </a:p>
        </p:txBody>
      </p:sp>
      <p:sp>
        <p:nvSpPr>
          <p:cNvPr id="8" name="Text 6"/>
          <p:cNvSpPr/>
          <p:nvPr/>
        </p:nvSpPr>
        <p:spPr>
          <a:xfrm>
            <a:off x="502920" y="1901952"/>
            <a:ext cx="2423160" cy="320040"/>
          </a:xfrm>
          <a:prstGeom prst="rect">
            <a:avLst/>
          </a:prstGeom>
          <a:noFill/>
          <a:ln/>
        </p:spPr>
        <p:txBody>
          <a:bodyPr wrap="square" rtlCol="0" anchor="ctr"/>
          <a:lstStyle/>
          <a:p>
            <a:pPr marL="0" indent="0">
              <a:buNone/>
            </a:pPr>
            <a:r>
              <a:rPr lang="en-US" sz="1250" b="1" dirty="0">
                <a:solidFill>
                  <a:srgbClr val="2C3E50"/>
                </a:solidFill>
              </a:rPr>
              <a:t>VPD Level</a:t>
            </a:r>
            <a:endParaRPr lang="en-US" sz="1250" dirty="0"/>
          </a:p>
        </p:txBody>
      </p:sp>
      <p:sp>
        <p:nvSpPr>
          <p:cNvPr id="9" name="Text 7"/>
          <p:cNvSpPr/>
          <p:nvPr/>
        </p:nvSpPr>
        <p:spPr>
          <a:xfrm>
            <a:off x="502920" y="2258568"/>
            <a:ext cx="2423160" cy="777240"/>
          </a:xfrm>
          <a:prstGeom prst="rect">
            <a:avLst/>
          </a:prstGeom>
          <a:noFill/>
          <a:ln/>
        </p:spPr>
        <p:txBody>
          <a:bodyPr wrap="square" rtlCol="0" anchor="ctr"/>
          <a:lstStyle/>
          <a:p>
            <a:pPr marL="0" indent="0">
              <a:buNone/>
            </a:pPr>
            <a:r>
              <a:rPr lang="en-US" sz="1050" dirty="0">
                <a:solidFill>
                  <a:srgbClr val="7F8C8D"/>
                </a:solidFill>
              </a:rPr>
              <a:t>Shows current plant stress level </a:t>
            </a:r>
            <a:endParaRPr lang="en-US" sz="1050" dirty="0"/>
          </a:p>
        </p:txBody>
      </p:sp>
      <p:sp>
        <p:nvSpPr>
          <p:cNvPr id="10" name="Shape 8"/>
          <p:cNvSpPr/>
          <p:nvPr/>
        </p:nvSpPr>
        <p:spPr>
          <a:xfrm>
            <a:off x="3218688" y="1783080"/>
            <a:ext cx="2743200" cy="1371600"/>
          </a:xfrm>
          <a:prstGeom prst="rect">
            <a:avLst/>
          </a:prstGeom>
          <a:solidFill>
            <a:srgbClr val="F8FFFE"/>
          </a:solidFill>
          <a:ln/>
          <a:effectLst>
            <a:outerShdw blurRad="101600" dist="38100" dir="8100000" algn="bl" rotWithShape="0">
              <a:srgbClr val="000000">
                <a:alpha val="10000"/>
              </a:srgbClr>
            </a:outerShdw>
          </a:effectLst>
        </p:spPr>
        <p:txBody>
          <a:bodyPr/>
          <a:lstStyle/>
          <a:p>
            <a:endParaRPr lang="en-IN"/>
          </a:p>
        </p:txBody>
      </p:sp>
      <p:sp>
        <p:nvSpPr>
          <p:cNvPr id="11" name="Shape 9"/>
          <p:cNvSpPr/>
          <p:nvPr/>
        </p:nvSpPr>
        <p:spPr>
          <a:xfrm>
            <a:off x="3218688" y="1783080"/>
            <a:ext cx="109728" cy="1371600"/>
          </a:xfrm>
          <a:prstGeom prst="rect">
            <a:avLst/>
          </a:prstGeom>
          <a:solidFill>
            <a:srgbClr val="3498DB"/>
          </a:solidFill>
          <a:ln/>
        </p:spPr>
        <p:txBody>
          <a:bodyPr/>
          <a:lstStyle/>
          <a:p>
            <a:endParaRPr lang="en-IN"/>
          </a:p>
        </p:txBody>
      </p:sp>
      <p:sp>
        <p:nvSpPr>
          <p:cNvPr id="12" name="Text 10"/>
          <p:cNvSpPr/>
          <p:nvPr/>
        </p:nvSpPr>
        <p:spPr>
          <a:xfrm>
            <a:off x="3447288" y="1901952"/>
            <a:ext cx="2423160" cy="320040"/>
          </a:xfrm>
          <a:prstGeom prst="rect">
            <a:avLst/>
          </a:prstGeom>
          <a:noFill/>
          <a:ln/>
        </p:spPr>
        <p:txBody>
          <a:bodyPr wrap="square" rtlCol="0" anchor="ctr"/>
          <a:lstStyle/>
          <a:p>
            <a:pPr marL="0" indent="0">
              <a:buNone/>
            </a:pPr>
            <a:r>
              <a:rPr lang="en-US" sz="1250" b="1" dirty="0">
                <a:solidFill>
                  <a:srgbClr val="2C3E50"/>
                </a:solidFill>
              </a:rPr>
              <a:t>Soil Moisture %</a:t>
            </a:r>
            <a:endParaRPr lang="en-US" sz="1250" dirty="0"/>
          </a:p>
        </p:txBody>
      </p:sp>
      <p:sp>
        <p:nvSpPr>
          <p:cNvPr id="13" name="Text 11"/>
          <p:cNvSpPr/>
          <p:nvPr/>
        </p:nvSpPr>
        <p:spPr>
          <a:xfrm>
            <a:off x="3447288" y="2258568"/>
            <a:ext cx="2423160" cy="777240"/>
          </a:xfrm>
          <a:prstGeom prst="rect">
            <a:avLst/>
          </a:prstGeom>
          <a:noFill/>
          <a:ln/>
        </p:spPr>
        <p:txBody>
          <a:bodyPr wrap="square" rtlCol="0" anchor="ctr"/>
          <a:lstStyle/>
          <a:p>
            <a:pPr marL="0" indent="0">
              <a:buNone/>
            </a:pPr>
            <a:r>
              <a:rPr lang="en-US" sz="1050" dirty="0">
                <a:solidFill>
                  <a:srgbClr val="7F8C8D"/>
                </a:solidFill>
              </a:rPr>
              <a:t>Live reading of water content in the soil with a target range indicator</a:t>
            </a:r>
            <a:endParaRPr lang="en-US" sz="1050" dirty="0"/>
          </a:p>
        </p:txBody>
      </p:sp>
      <p:sp>
        <p:nvSpPr>
          <p:cNvPr id="14" name="Shape 12"/>
          <p:cNvSpPr/>
          <p:nvPr/>
        </p:nvSpPr>
        <p:spPr>
          <a:xfrm>
            <a:off x="6163056" y="1783080"/>
            <a:ext cx="2743200" cy="1371600"/>
          </a:xfrm>
          <a:prstGeom prst="rect">
            <a:avLst/>
          </a:prstGeom>
          <a:solidFill>
            <a:srgbClr val="F8FFFE"/>
          </a:solidFill>
          <a:ln/>
          <a:effectLst>
            <a:outerShdw blurRad="101600" dist="38100" dir="8100000" algn="bl" rotWithShape="0">
              <a:srgbClr val="000000">
                <a:alpha val="10000"/>
              </a:srgbClr>
            </a:outerShdw>
          </a:effectLst>
        </p:spPr>
        <p:txBody>
          <a:bodyPr/>
          <a:lstStyle/>
          <a:p>
            <a:endParaRPr lang="en-IN"/>
          </a:p>
        </p:txBody>
      </p:sp>
      <p:sp>
        <p:nvSpPr>
          <p:cNvPr id="15" name="Shape 13"/>
          <p:cNvSpPr/>
          <p:nvPr/>
        </p:nvSpPr>
        <p:spPr>
          <a:xfrm>
            <a:off x="6163056" y="1783080"/>
            <a:ext cx="109728" cy="1371600"/>
          </a:xfrm>
          <a:prstGeom prst="rect">
            <a:avLst/>
          </a:prstGeom>
          <a:solidFill>
            <a:srgbClr val="1ABC9C"/>
          </a:solidFill>
          <a:ln/>
        </p:spPr>
        <p:txBody>
          <a:bodyPr/>
          <a:lstStyle/>
          <a:p>
            <a:endParaRPr lang="en-IN"/>
          </a:p>
        </p:txBody>
      </p:sp>
      <p:sp>
        <p:nvSpPr>
          <p:cNvPr id="16" name="Text 14"/>
          <p:cNvSpPr/>
          <p:nvPr/>
        </p:nvSpPr>
        <p:spPr>
          <a:xfrm>
            <a:off x="6391656" y="1901952"/>
            <a:ext cx="2423160" cy="320040"/>
          </a:xfrm>
          <a:prstGeom prst="rect">
            <a:avLst/>
          </a:prstGeom>
          <a:noFill/>
          <a:ln/>
        </p:spPr>
        <p:txBody>
          <a:bodyPr wrap="square" rtlCol="0" anchor="ctr"/>
          <a:lstStyle/>
          <a:p>
            <a:pPr marL="0" indent="0">
              <a:buNone/>
            </a:pPr>
            <a:r>
              <a:rPr lang="en-US" sz="1250" b="1" dirty="0">
                <a:solidFill>
                  <a:srgbClr val="2C3E50"/>
                </a:solidFill>
              </a:rPr>
              <a:t>Temperature &amp; Humidity</a:t>
            </a:r>
            <a:endParaRPr lang="en-US" sz="1250" dirty="0"/>
          </a:p>
        </p:txBody>
      </p:sp>
      <p:sp>
        <p:nvSpPr>
          <p:cNvPr id="17" name="Text 15"/>
          <p:cNvSpPr/>
          <p:nvPr/>
        </p:nvSpPr>
        <p:spPr>
          <a:xfrm>
            <a:off x="6391656" y="2258568"/>
            <a:ext cx="2423160" cy="777240"/>
          </a:xfrm>
          <a:prstGeom prst="rect">
            <a:avLst/>
          </a:prstGeom>
          <a:noFill/>
          <a:ln/>
        </p:spPr>
        <p:txBody>
          <a:bodyPr wrap="square" rtlCol="0" anchor="ctr"/>
          <a:lstStyle/>
          <a:p>
            <a:pPr marL="0" indent="0">
              <a:buNone/>
            </a:pPr>
            <a:r>
              <a:rPr lang="en-US" sz="1050" dirty="0">
                <a:solidFill>
                  <a:srgbClr val="7F8C8D"/>
                </a:solidFill>
              </a:rPr>
              <a:t>Current weather readings from the BME280 atmospheric sensor on the farm</a:t>
            </a:r>
            <a:endParaRPr lang="en-US" sz="1050" dirty="0"/>
          </a:p>
        </p:txBody>
      </p:sp>
      <p:sp>
        <p:nvSpPr>
          <p:cNvPr id="18" name="Shape 16"/>
          <p:cNvSpPr/>
          <p:nvPr/>
        </p:nvSpPr>
        <p:spPr>
          <a:xfrm>
            <a:off x="274320" y="3383280"/>
            <a:ext cx="2743200" cy="1371600"/>
          </a:xfrm>
          <a:prstGeom prst="rect">
            <a:avLst/>
          </a:prstGeom>
          <a:solidFill>
            <a:srgbClr val="F8FFFE"/>
          </a:solidFill>
          <a:ln/>
          <a:effectLst>
            <a:outerShdw blurRad="101600" dist="38100" dir="8100000" algn="bl" rotWithShape="0">
              <a:srgbClr val="000000">
                <a:alpha val="10000"/>
              </a:srgbClr>
            </a:outerShdw>
          </a:effectLst>
        </p:spPr>
        <p:txBody>
          <a:bodyPr/>
          <a:lstStyle/>
          <a:p>
            <a:endParaRPr lang="en-IN"/>
          </a:p>
        </p:txBody>
      </p:sp>
      <p:sp>
        <p:nvSpPr>
          <p:cNvPr id="19" name="Shape 17"/>
          <p:cNvSpPr/>
          <p:nvPr/>
        </p:nvSpPr>
        <p:spPr>
          <a:xfrm>
            <a:off x="274320" y="3383280"/>
            <a:ext cx="109728" cy="1371600"/>
          </a:xfrm>
          <a:prstGeom prst="rect">
            <a:avLst/>
          </a:prstGeom>
          <a:solidFill>
            <a:srgbClr val="F39C12"/>
          </a:solidFill>
          <a:ln/>
        </p:spPr>
        <p:txBody>
          <a:bodyPr/>
          <a:lstStyle/>
          <a:p>
            <a:endParaRPr lang="en-IN"/>
          </a:p>
        </p:txBody>
      </p:sp>
      <p:sp>
        <p:nvSpPr>
          <p:cNvPr id="20" name="Text 18"/>
          <p:cNvSpPr/>
          <p:nvPr/>
        </p:nvSpPr>
        <p:spPr>
          <a:xfrm>
            <a:off x="502920" y="3502152"/>
            <a:ext cx="2423160" cy="320040"/>
          </a:xfrm>
          <a:prstGeom prst="rect">
            <a:avLst/>
          </a:prstGeom>
          <a:noFill/>
          <a:ln/>
        </p:spPr>
        <p:txBody>
          <a:bodyPr wrap="square" rtlCol="0" anchor="ctr"/>
          <a:lstStyle/>
          <a:p>
            <a:pPr marL="0" indent="0">
              <a:buNone/>
            </a:pPr>
            <a:r>
              <a:rPr lang="en-US" sz="1250" b="1" dirty="0">
                <a:solidFill>
                  <a:srgbClr val="2C3E50"/>
                </a:solidFill>
              </a:rPr>
              <a:t>Sunlight Level</a:t>
            </a:r>
            <a:endParaRPr lang="en-US" sz="1250" dirty="0"/>
          </a:p>
        </p:txBody>
      </p:sp>
      <p:sp>
        <p:nvSpPr>
          <p:cNvPr id="21" name="Text 19"/>
          <p:cNvSpPr/>
          <p:nvPr/>
        </p:nvSpPr>
        <p:spPr>
          <a:xfrm>
            <a:off x="502920" y="3858768"/>
            <a:ext cx="2423160" cy="777240"/>
          </a:xfrm>
          <a:prstGeom prst="rect">
            <a:avLst/>
          </a:prstGeom>
          <a:noFill/>
          <a:ln/>
        </p:spPr>
        <p:txBody>
          <a:bodyPr wrap="square" rtlCol="0" anchor="ctr"/>
          <a:lstStyle/>
          <a:p>
            <a:pPr marL="0" indent="0">
              <a:buNone/>
            </a:pPr>
            <a:r>
              <a:rPr lang="en-US" sz="1050" dirty="0">
                <a:solidFill>
                  <a:srgbClr val="7F8C8D"/>
                </a:solidFill>
              </a:rPr>
              <a:t>Real-time brightness reading showing how much solar energy is hitting the field</a:t>
            </a:r>
            <a:endParaRPr lang="en-US" sz="1050" dirty="0"/>
          </a:p>
        </p:txBody>
      </p:sp>
      <p:sp>
        <p:nvSpPr>
          <p:cNvPr id="22" name="Shape 20"/>
          <p:cNvSpPr/>
          <p:nvPr/>
        </p:nvSpPr>
        <p:spPr>
          <a:xfrm>
            <a:off x="3218688" y="3383280"/>
            <a:ext cx="2743200" cy="1371600"/>
          </a:xfrm>
          <a:prstGeom prst="rect">
            <a:avLst/>
          </a:prstGeom>
          <a:solidFill>
            <a:srgbClr val="F8FFFE"/>
          </a:solidFill>
          <a:ln/>
          <a:effectLst>
            <a:outerShdw blurRad="101600" dist="38100" dir="8100000" algn="bl" rotWithShape="0">
              <a:srgbClr val="000000">
                <a:alpha val="10000"/>
              </a:srgbClr>
            </a:outerShdw>
          </a:effectLst>
        </p:spPr>
        <p:txBody>
          <a:bodyPr/>
          <a:lstStyle/>
          <a:p>
            <a:endParaRPr lang="en-IN"/>
          </a:p>
        </p:txBody>
      </p:sp>
      <p:sp>
        <p:nvSpPr>
          <p:cNvPr id="23" name="Shape 21"/>
          <p:cNvSpPr/>
          <p:nvPr/>
        </p:nvSpPr>
        <p:spPr>
          <a:xfrm>
            <a:off x="3218688" y="3383280"/>
            <a:ext cx="109728" cy="1371600"/>
          </a:xfrm>
          <a:prstGeom prst="rect">
            <a:avLst/>
          </a:prstGeom>
          <a:solidFill>
            <a:srgbClr val="9B59B6"/>
          </a:solidFill>
          <a:ln/>
        </p:spPr>
        <p:txBody>
          <a:bodyPr/>
          <a:lstStyle/>
          <a:p>
            <a:endParaRPr lang="en-IN"/>
          </a:p>
        </p:txBody>
      </p:sp>
      <p:sp>
        <p:nvSpPr>
          <p:cNvPr id="24" name="Text 22"/>
          <p:cNvSpPr/>
          <p:nvPr/>
        </p:nvSpPr>
        <p:spPr>
          <a:xfrm>
            <a:off x="3447288" y="3502152"/>
            <a:ext cx="2423160" cy="320040"/>
          </a:xfrm>
          <a:prstGeom prst="rect">
            <a:avLst/>
          </a:prstGeom>
          <a:noFill/>
          <a:ln/>
        </p:spPr>
        <p:txBody>
          <a:bodyPr wrap="square" rtlCol="0" anchor="ctr"/>
          <a:lstStyle/>
          <a:p>
            <a:pPr marL="0" indent="0">
              <a:buNone/>
            </a:pPr>
            <a:r>
              <a:rPr lang="en-US" sz="1250" b="1" dirty="0">
                <a:solidFill>
                  <a:srgbClr val="2C3E50"/>
                </a:solidFill>
              </a:rPr>
              <a:t>24-Hour Trend Graph</a:t>
            </a:r>
            <a:endParaRPr lang="en-US" sz="1250" dirty="0"/>
          </a:p>
        </p:txBody>
      </p:sp>
      <p:sp>
        <p:nvSpPr>
          <p:cNvPr id="25" name="Text 23"/>
          <p:cNvSpPr/>
          <p:nvPr/>
        </p:nvSpPr>
        <p:spPr>
          <a:xfrm>
            <a:off x="3447288" y="3858768"/>
            <a:ext cx="2423160" cy="777240"/>
          </a:xfrm>
          <a:prstGeom prst="rect">
            <a:avLst/>
          </a:prstGeom>
          <a:noFill/>
          <a:ln/>
        </p:spPr>
        <p:txBody>
          <a:bodyPr wrap="square" rtlCol="0" anchor="ctr"/>
          <a:lstStyle/>
          <a:p>
            <a:pPr marL="0" indent="0">
              <a:buNone/>
            </a:pPr>
            <a:r>
              <a:rPr lang="en-US" sz="1050" dirty="0">
                <a:solidFill>
                  <a:srgbClr val="7F8C8D"/>
                </a:solidFill>
              </a:rPr>
              <a:t>Chart showing how VPD and soil moisture changed through the day, with irrigation events marked</a:t>
            </a:r>
            <a:endParaRPr lang="en-US" sz="1050" dirty="0"/>
          </a:p>
        </p:txBody>
      </p:sp>
      <p:sp>
        <p:nvSpPr>
          <p:cNvPr id="26" name="Shape 24"/>
          <p:cNvSpPr/>
          <p:nvPr/>
        </p:nvSpPr>
        <p:spPr>
          <a:xfrm>
            <a:off x="6163056" y="3383280"/>
            <a:ext cx="2743200" cy="1371600"/>
          </a:xfrm>
          <a:prstGeom prst="rect">
            <a:avLst/>
          </a:prstGeom>
          <a:solidFill>
            <a:srgbClr val="F8FFFE"/>
          </a:solidFill>
          <a:ln/>
          <a:effectLst>
            <a:outerShdw blurRad="101600" dist="38100" dir="8100000" algn="bl" rotWithShape="0">
              <a:srgbClr val="000000">
                <a:alpha val="10000"/>
              </a:srgbClr>
            </a:outerShdw>
          </a:effectLst>
        </p:spPr>
        <p:txBody>
          <a:bodyPr/>
          <a:lstStyle/>
          <a:p>
            <a:endParaRPr lang="en-IN"/>
          </a:p>
        </p:txBody>
      </p:sp>
      <p:sp>
        <p:nvSpPr>
          <p:cNvPr id="27" name="Shape 25"/>
          <p:cNvSpPr/>
          <p:nvPr/>
        </p:nvSpPr>
        <p:spPr>
          <a:xfrm>
            <a:off x="6163056" y="3383280"/>
            <a:ext cx="109728" cy="1371600"/>
          </a:xfrm>
          <a:prstGeom prst="rect">
            <a:avLst/>
          </a:prstGeom>
          <a:solidFill>
            <a:srgbClr val="E74C3C"/>
          </a:solidFill>
          <a:ln/>
        </p:spPr>
        <p:txBody>
          <a:bodyPr/>
          <a:lstStyle/>
          <a:p>
            <a:endParaRPr lang="en-IN"/>
          </a:p>
        </p:txBody>
      </p:sp>
      <p:sp>
        <p:nvSpPr>
          <p:cNvPr id="28" name="Text 26"/>
          <p:cNvSpPr/>
          <p:nvPr/>
        </p:nvSpPr>
        <p:spPr>
          <a:xfrm>
            <a:off x="6391656" y="3502152"/>
            <a:ext cx="2423160" cy="320040"/>
          </a:xfrm>
          <a:prstGeom prst="rect">
            <a:avLst/>
          </a:prstGeom>
          <a:noFill/>
          <a:ln/>
        </p:spPr>
        <p:txBody>
          <a:bodyPr wrap="square" rtlCol="0" anchor="ctr"/>
          <a:lstStyle/>
          <a:p>
            <a:pPr marL="0" indent="0">
              <a:buNone/>
            </a:pPr>
            <a:r>
              <a:rPr lang="en-US" sz="1250" b="1" dirty="0">
                <a:solidFill>
                  <a:srgbClr val="2C3E50"/>
                </a:solidFill>
              </a:rPr>
              <a:t>Pump Control Switch</a:t>
            </a:r>
            <a:endParaRPr lang="en-US" sz="1250" dirty="0"/>
          </a:p>
        </p:txBody>
      </p:sp>
      <p:sp>
        <p:nvSpPr>
          <p:cNvPr id="29" name="Text 27"/>
          <p:cNvSpPr/>
          <p:nvPr/>
        </p:nvSpPr>
        <p:spPr>
          <a:xfrm>
            <a:off x="6391656" y="3858768"/>
            <a:ext cx="2423160" cy="777240"/>
          </a:xfrm>
          <a:prstGeom prst="rect">
            <a:avLst/>
          </a:prstGeom>
          <a:noFill/>
          <a:ln/>
        </p:spPr>
        <p:txBody>
          <a:bodyPr wrap="square" rtlCol="0" anchor="ctr"/>
          <a:lstStyle/>
          <a:p>
            <a:pPr marL="0" indent="0">
              <a:buNone/>
            </a:pPr>
            <a:r>
              <a:rPr lang="en-US" sz="1050" dirty="0">
                <a:solidFill>
                  <a:srgbClr val="7F8C8D"/>
                </a:solidFill>
              </a:rPr>
              <a:t>Manually turn the pump ON or OFF from your phone if needed — full override available</a:t>
            </a:r>
            <a:endParaRPr lang="en-US" sz="1050" dirty="0"/>
          </a:p>
        </p:txBody>
      </p:sp>
      <p:sp>
        <p:nvSpPr>
          <p:cNvPr id="30" name="Shape 28"/>
          <p:cNvSpPr/>
          <p:nvPr/>
        </p:nvSpPr>
        <p:spPr>
          <a:xfrm>
            <a:off x="274320" y="4864608"/>
            <a:ext cx="8595360" cy="201168"/>
          </a:xfrm>
          <a:prstGeom prst="rect">
            <a:avLst/>
          </a:prstGeom>
          <a:solidFill>
            <a:srgbClr val="00B0F0"/>
          </a:solidFill>
          <a:ln/>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CC71"/>
          </a:solidFill>
          <a:ln/>
        </p:spPr>
        <p:txBody>
          <a:bodyPr/>
          <a:lstStyle/>
          <a:p>
            <a:endParaRPr lang="en-IN"/>
          </a:p>
        </p:txBody>
      </p:sp>
      <p:sp>
        <p:nvSpPr>
          <p:cNvPr id="3" name="Text 1"/>
          <p:cNvSpPr/>
          <p:nvPr/>
        </p:nvSpPr>
        <p:spPr>
          <a:xfrm>
            <a:off x="365760" y="109728"/>
            <a:ext cx="8412480" cy="603504"/>
          </a:xfrm>
          <a:prstGeom prst="rect">
            <a:avLst/>
          </a:prstGeom>
          <a:noFill/>
          <a:ln/>
        </p:spPr>
        <p:txBody>
          <a:bodyPr wrap="square" rtlCol="0" anchor="ctr"/>
          <a:lstStyle/>
          <a:p>
            <a:pPr marL="0" indent="0">
              <a:buNone/>
            </a:pPr>
            <a:r>
              <a:rPr lang="en-US" sz="2200" b="1" dirty="0">
                <a:solidFill>
                  <a:srgbClr val="FFFFFF"/>
                </a:solidFill>
              </a:rPr>
              <a:t>RESULTS — WHAT WE ACHIEVED</a:t>
            </a:r>
            <a:endParaRPr lang="en-US" sz="2200" dirty="0"/>
          </a:p>
        </p:txBody>
      </p:sp>
      <p:sp>
        <p:nvSpPr>
          <p:cNvPr id="4" name="Text 2"/>
          <p:cNvSpPr/>
          <p:nvPr/>
        </p:nvSpPr>
        <p:spPr>
          <a:xfrm>
            <a:off x="274320" y="896112"/>
            <a:ext cx="8595360" cy="274320"/>
          </a:xfrm>
          <a:prstGeom prst="rect">
            <a:avLst/>
          </a:prstGeom>
          <a:noFill/>
          <a:ln/>
        </p:spPr>
        <p:txBody>
          <a:bodyPr wrap="square" rtlCol="0" anchor="ctr"/>
          <a:lstStyle/>
          <a:p>
            <a:pPr marL="0" indent="0">
              <a:buNone/>
            </a:pPr>
            <a:r>
              <a:rPr lang="en-US" sz="1200" b="1" dirty="0">
                <a:solidFill>
                  <a:srgbClr val="2C3E50"/>
                </a:solidFill>
              </a:rPr>
              <a:t>Water Used Per Day: Our System vs Traditional System</a:t>
            </a:r>
            <a:endParaRPr lang="en-US" sz="1200" dirty="0"/>
          </a:p>
        </p:txBody>
      </p:sp>
      <p:graphicFrame>
        <p:nvGraphicFramePr>
          <p:cNvPr id="5" name="Chart 0"/>
          <p:cNvGraphicFramePr/>
          <p:nvPr/>
        </p:nvGraphicFramePr>
        <p:xfrm>
          <a:off x="274320" y="1188720"/>
          <a:ext cx="56692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172200" y="1234440"/>
            <a:ext cx="2743200" cy="804672"/>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7" name="Text 4"/>
          <p:cNvSpPr/>
          <p:nvPr/>
        </p:nvSpPr>
        <p:spPr>
          <a:xfrm>
            <a:off x="6217920" y="1271016"/>
            <a:ext cx="1188720" cy="502920"/>
          </a:xfrm>
          <a:prstGeom prst="rect">
            <a:avLst/>
          </a:prstGeom>
          <a:noFill/>
          <a:ln/>
        </p:spPr>
        <p:txBody>
          <a:bodyPr wrap="square" rtlCol="0" anchor="ctr"/>
          <a:lstStyle/>
          <a:p>
            <a:pPr marL="0" indent="0" algn="ctr">
              <a:buNone/>
            </a:pPr>
            <a:r>
              <a:rPr lang="en-US" sz="2200" b="1" dirty="0">
                <a:solidFill>
                  <a:srgbClr val="2ECC71"/>
                </a:solidFill>
              </a:rPr>
              <a:t>33%</a:t>
            </a:r>
            <a:endParaRPr lang="en-US" sz="2200" dirty="0"/>
          </a:p>
        </p:txBody>
      </p:sp>
      <p:sp>
        <p:nvSpPr>
          <p:cNvPr id="8" name="Text 5"/>
          <p:cNvSpPr/>
          <p:nvPr/>
        </p:nvSpPr>
        <p:spPr>
          <a:xfrm>
            <a:off x="7424928" y="1325880"/>
            <a:ext cx="1371600" cy="594360"/>
          </a:xfrm>
          <a:prstGeom prst="rect">
            <a:avLst/>
          </a:prstGeom>
          <a:noFill/>
          <a:ln/>
        </p:spPr>
        <p:txBody>
          <a:bodyPr wrap="square" rtlCol="0" anchor="ctr"/>
          <a:lstStyle/>
          <a:p>
            <a:pPr marL="0" indent="0">
              <a:buNone/>
            </a:pPr>
            <a:r>
              <a:rPr lang="en-US" sz="1050" dirty="0">
                <a:solidFill>
                  <a:srgbClr val="7F8C8D"/>
                </a:solidFill>
              </a:rPr>
              <a:t>Less water</a:t>
            </a:r>
            <a:endParaRPr lang="en-US" sz="1050" dirty="0"/>
          </a:p>
          <a:p>
            <a:pPr marL="0" indent="0">
              <a:buNone/>
            </a:pPr>
            <a:r>
              <a:rPr lang="en-US" sz="1050" dirty="0">
                <a:solidFill>
                  <a:srgbClr val="7F8C8D"/>
                </a:solidFill>
              </a:rPr>
              <a:t>used overall</a:t>
            </a:r>
            <a:endParaRPr lang="en-US" sz="1050" dirty="0"/>
          </a:p>
        </p:txBody>
      </p:sp>
      <p:sp>
        <p:nvSpPr>
          <p:cNvPr id="9" name="Shape 6"/>
          <p:cNvSpPr/>
          <p:nvPr/>
        </p:nvSpPr>
        <p:spPr>
          <a:xfrm>
            <a:off x="6172200" y="2194560"/>
            <a:ext cx="2743200" cy="804672"/>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0" name="Text 7"/>
          <p:cNvSpPr/>
          <p:nvPr/>
        </p:nvSpPr>
        <p:spPr>
          <a:xfrm>
            <a:off x="6217920" y="2231136"/>
            <a:ext cx="1188720" cy="502920"/>
          </a:xfrm>
          <a:prstGeom prst="rect">
            <a:avLst/>
          </a:prstGeom>
          <a:noFill/>
          <a:ln/>
        </p:spPr>
        <p:txBody>
          <a:bodyPr wrap="square" rtlCol="0" anchor="ctr"/>
          <a:lstStyle/>
          <a:p>
            <a:pPr marL="0" indent="0" algn="ctr">
              <a:buNone/>
            </a:pPr>
            <a:r>
              <a:rPr lang="en-US" sz="2200" b="1" dirty="0">
                <a:solidFill>
                  <a:srgbClr val="2ECC71"/>
                </a:solidFill>
              </a:rPr>
              <a:t>50%</a:t>
            </a:r>
            <a:endParaRPr lang="en-US" sz="2200" dirty="0"/>
          </a:p>
        </p:txBody>
      </p:sp>
      <p:sp>
        <p:nvSpPr>
          <p:cNvPr id="11" name="Text 8"/>
          <p:cNvSpPr/>
          <p:nvPr/>
        </p:nvSpPr>
        <p:spPr>
          <a:xfrm>
            <a:off x="7424928" y="2286000"/>
            <a:ext cx="1371600" cy="594360"/>
          </a:xfrm>
          <a:prstGeom prst="rect">
            <a:avLst/>
          </a:prstGeom>
          <a:noFill/>
          <a:ln/>
        </p:spPr>
        <p:txBody>
          <a:bodyPr wrap="square" rtlCol="0" anchor="ctr"/>
          <a:lstStyle/>
          <a:p>
            <a:pPr marL="0" indent="0">
              <a:buNone/>
            </a:pPr>
            <a:r>
              <a:rPr lang="en-US" sz="1050" dirty="0">
                <a:solidFill>
                  <a:srgbClr val="7F8C8D"/>
                </a:solidFill>
              </a:rPr>
              <a:t>Savings on</a:t>
            </a:r>
            <a:endParaRPr lang="en-US" sz="1050" dirty="0"/>
          </a:p>
          <a:p>
            <a:pPr marL="0" indent="0">
              <a:buNone/>
            </a:pPr>
            <a:r>
              <a:rPr lang="en-US" sz="1050" dirty="0">
                <a:solidFill>
                  <a:srgbClr val="7F8C8D"/>
                </a:solidFill>
              </a:rPr>
              <a:t>overcast days</a:t>
            </a:r>
            <a:endParaRPr lang="en-US" sz="1050" dirty="0"/>
          </a:p>
        </p:txBody>
      </p:sp>
      <p:sp>
        <p:nvSpPr>
          <p:cNvPr id="12" name="Shape 9"/>
          <p:cNvSpPr/>
          <p:nvPr/>
        </p:nvSpPr>
        <p:spPr>
          <a:xfrm>
            <a:off x="6172200" y="3154680"/>
            <a:ext cx="2743200" cy="804672"/>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3" name="Text 10"/>
          <p:cNvSpPr/>
          <p:nvPr/>
        </p:nvSpPr>
        <p:spPr>
          <a:xfrm>
            <a:off x="6217920" y="3191256"/>
            <a:ext cx="1188720" cy="502920"/>
          </a:xfrm>
          <a:prstGeom prst="rect">
            <a:avLst/>
          </a:prstGeom>
          <a:noFill/>
          <a:ln/>
        </p:spPr>
        <p:txBody>
          <a:bodyPr wrap="square" rtlCol="0" anchor="ctr"/>
          <a:lstStyle/>
          <a:p>
            <a:pPr marL="0" indent="0" algn="ctr">
              <a:buNone/>
            </a:pPr>
            <a:r>
              <a:rPr lang="en-US" sz="2200" b="1" dirty="0">
                <a:solidFill>
                  <a:srgbClr val="2ECC71"/>
                </a:solidFill>
              </a:rPr>
              <a:t>No stress</a:t>
            </a:r>
            <a:endParaRPr lang="en-US" sz="2200" dirty="0"/>
          </a:p>
        </p:txBody>
      </p:sp>
      <p:sp>
        <p:nvSpPr>
          <p:cNvPr id="14" name="Text 11"/>
          <p:cNvSpPr/>
          <p:nvPr/>
        </p:nvSpPr>
        <p:spPr>
          <a:xfrm>
            <a:off x="7424928" y="3246120"/>
            <a:ext cx="1371600" cy="594360"/>
          </a:xfrm>
          <a:prstGeom prst="rect">
            <a:avLst/>
          </a:prstGeom>
          <a:noFill/>
          <a:ln/>
        </p:spPr>
        <p:txBody>
          <a:bodyPr wrap="square" rtlCol="0" anchor="ctr"/>
          <a:lstStyle/>
          <a:p>
            <a:pPr marL="0" indent="0">
              <a:buNone/>
            </a:pPr>
            <a:r>
              <a:rPr lang="en-US" sz="1050" dirty="0">
                <a:solidFill>
                  <a:srgbClr val="7F8C8D"/>
                </a:solidFill>
              </a:rPr>
              <a:t>Soil stayed in</a:t>
            </a:r>
            <a:endParaRPr lang="en-US" sz="1050" dirty="0"/>
          </a:p>
          <a:p>
            <a:pPr marL="0" indent="0">
              <a:buNone/>
            </a:pPr>
            <a:r>
              <a:rPr lang="en-US" sz="1050" dirty="0">
                <a:solidFill>
                  <a:srgbClr val="7F8C8D"/>
                </a:solidFill>
              </a:rPr>
              <a:t>healthy range</a:t>
            </a:r>
            <a:endParaRPr lang="en-US" sz="1050" dirty="0"/>
          </a:p>
        </p:txBody>
      </p:sp>
      <p:sp>
        <p:nvSpPr>
          <p:cNvPr id="15" name="Shape 12"/>
          <p:cNvSpPr/>
          <p:nvPr/>
        </p:nvSpPr>
        <p:spPr>
          <a:xfrm>
            <a:off x="6172200" y="4114800"/>
            <a:ext cx="2743200" cy="804672"/>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6" name="Text 13"/>
          <p:cNvSpPr/>
          <p:nvPr/>
        </p:nvSpPr>
        <p:spPr>
          <a:xfrm>
            <a:off x="6217920" y="4151376"/>
            <a:ext cx="1188720" cy="502920"/>
          </a:xfrm>
          <a:prstGeom prst="rect">
            <a:avLst/>
          </a:prstGeom>
          <a:noFill/>
          <a:ln/>
        </p:spPr>
        <p:txBody>
          <a:bodyPr wrap="square" rtlCol="0" anchor="ctr"/>
          <a:lstStyle/>
          <a:p>
            <a:pPr marL="0" indent="0" algn="ctr">
              <a:buNone/>
            </a:pPr>
            <a:r>
              <a:rPr lang="en-US" sz="2200" b="1" dirty="0">
                <a:solidFill>
                  <a:srgbClr val="2ECC71"/>
                </a:solidFill>
              </a:rPr>
              <a:t>99.2%</a:t>
            </a:r>
            <a:endParaRPr lang="en-US" sz="2200" dirty="0"/>
          </a:p>
        </p:txBody>
      </p:sp>
      <p:sp>
        <p:nvSpPr>
          <p:cNvPr id="17" name="Text 14"/>
          <p:cNvSpPr/>
          <p:nvPr/>
        </p:nvSpPr>
        <p:spPr>
          <a:xfrm>
            <a:off x="7424928" y="4206240"/>
            <a:ext cx="1371600" cy="594360"/>
          </a:xfrm>
          <a:prstGeom prst="rect">
            <a:avLst/>
          </a:prstGeom>
          <a:noFill/>
          <a:ln/>
        </p:spPr>
        <p:txBody>
          <a:bodyPr wrap="square" rtlCol="0" anchor="ctr"/>
          <a:lstStyle/>
          <a:p>
            <a:pPr marL="0" indent="0">
              <a:buNone/>
            </a:pPr>
            <a:r>
              <a:rPr lang="en-US" sz="1050" dirty="0">
                <a:solidFill>
                  <a:srgbClr val="7F8C8D"/>
                </a:solidFill>
              </a:rPr>
              <a:t>System uptime</a:t>
            </a:r>
            <a:endParaRPr lang="en-US" sz="1050" dirty="0"/>
          </a:p>
          <a:p>
            <a:pPr marL="0" indent="0">
              <a:buNone/>
            </a:pPr>
            <a:r>
              <a:rPr lang="en-US" sz="1050" dirty="0">
                <a:solidFill>
                  <a:srgbClr val="7F8C8D"/>
                </a:solidFill>
              </a:rPr>
              <a:t>over 15 days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FFE"/>
        </a:solidFill>
        <a:effectLst/>
      </p:bgPr>
    </p:bg>
    <p:spTree>
      <p:nvGrpSpPr>
        <p:cNvPr id="1" name="">
          <a:extLst>
            <a:ext uri="{FF2B5EF4-FFF2-40B4-BE49-F238E27FC236}">
              <a16:creationId xmlns:a16="http://schemas.microsoft.com/office/drawing/2014/main" id="{F69EE0A6-8E7E-8EEB-80B8-F0744256F3E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45D0E01-FD8F-D2FF-7995-61A2852CACA1}"/>
              </a:ext>
            </a:extLst>
          </p:cNvPr>
          <p:cNvSpPr/>
          <p:nvPr/>
        </p:nvSpPr>
        <p:spPr>
          <a:xfrm>
            <a:off x="0" y="0"/>
            <a:ext cx="9144000" cy="822960"/>
          </a:xfrm>
          <a:prstGeom prst="rect">
            <a:avLst/>
          </a:prstGeom>
          <a:solidFill>
            <a:srgbClr val="2ECC71"/>
          </a:solidFill>
          <a:ln/>
        </p:spPr>
        <p:txBody>
          <a:bodyPr/>
          <a:lstStyle/>
          <a:p>
            <a:endParaRPr lang="en-IN"/>
          </a:p>
        </p:txBody>
      </p:sp>
      <p:sp>
        <p:nvSpPr>
          <p:cNvPr id="3" name="Text 1">
            <a:extLst>
              <a:ext uri="{FF2B5EF4-FFF2-40B4-BE49-F238E27FC236}">
                <a16:creationId xmlns:a16="http://schemas.microsoft.com/office/drawing/2014/main" id="{A59A5F77-98D2-9151-D7A5-99C8DF254745}"/>
              </a:ext>
            </a:extLst>
          </p:cNvPr>
          <p:cNvSpPr/>
          <p:nvPr/>
        </p:nvSpPr>
        <p:spPr>
          <a:xfrm>
            <a:off x="365760" y="109728"/>
            <a:ext cx="8412480" cy="603504"/>
          </a:xfrm>
          <a:prstGeom prst="rect">
            <a:avLst/>
          </a:prstGeom>
          <a:noFill/>
          <a:ln/>
        </p:spPr>
        <p:txBody>
          <a:bodyPr wrap="square" rtlCol="0" anchor="ctr"/>
          <a:lstStyle/>
          <a:p>
            <a:pPr marL="0" indent="0">
              <a:buNone/>
            </a:pPr>
            <a:r>
              <a:rPr lang="en-US" sz="2200" b="1" dirty="0">
                <a:solidFill>
                  <a:srgbClr val="FFFFFF"/>
                </a:solidFill>
              </a:rPr>
              <a:t>ADVANTAGES AND DISADVANTAGES</a:t>
            </a:r>
            <a:endParaRPr lang="en-US" sz="2200" dirty="0"/>
          </a:p>
        </p:txBody>
      </p:sp>
      <p:grpSp>
        <p:nvGrpSpPr>
          <p:cNvPr id="25" name="Group 24">
            <a:extLst>
              <a:ext uri="{FF2B5EF4-FFF2-40B4-BE49-F238E27FC236}">
                <a16:creationId xmlns:a16="http://schemas.microsoft.com/office/drawing/2014/main" id="{79CD8606-9874-E56D-1F1A-9E7BABE30DB8}"/>
              </a:ext>
            </a:extLst>
          </p:cNvPr>
          <p:cNvGrpSpPr/>
          <p:nvPr/>
        </p:nvGrpSpPr>
        <p:grpSpPr>
          <a:xfrm>
            <a:off x="182880" y="1120140"/>
            <a:ext cx="8641080" cy="3606546"/>
            <a:chOff x="274320" y="914400"/>
            <a:chExt cx="8641080" cy="3606546"/>
          </a:xfrm>
        </p:grpSpPr>
        <p:sp>
          <p:nvSpPr>
            <p:cNvPr id="4" name="Shape 2">
              <a:extLst>
                <a:ext uri="{FF2B5EF4-FFF2-40B4-BE49-F238E27FC236}">
                  <a16:creationId xmlns:a16="http://schemas.microsoft.com/office/drawing/2014/main" id="{41DFC776-5861-555B-8CDE-EAE04D56A663}"/>
                </a:ext>
              </a:extLst>
            </p:cNvPr>
            <p:cNvSpPr/>
            <p:nvPr/>
          </p:nvSpPr>
          <p:spPr>
            <a:xfrm>
              <a:off x="320040" y="945642"/>
              <a:ext cx="8595360" cy="3575304"/>
            </a:xfrm>
            <a:prstGeom prst="rect">
              <a:avLst/>
            </a:prstGeom>
            <a:solidFill>
              <a:srgbClr val="FFFFFF"/>
            </a:solidFill>
            <a:ln/>
            <a:effectLst>
              <a:outerShdw blurRad="101600" dist="38100" dir="8100000" algn="bl" rotWithShape="0">
                <a:srgbClr val="000000">
                  <a:alpha val="10000"/>
                </a:srgbClr>
              </a:outerShdw>
            </a:effectLst>
          </p:spPr>
          <p:txBody>
            <a:bodyPr/>
            <a:lstStyle/>
            <a:p>
              <a:r>
                <a:rPr lang="en-US" sz="1600" b="1" dirty="0"/>
                <a:t>Advantages</a:t>
              </a:r>
            </a:p>
            <a:p>
              <a:endParaRPr lang="en-US" sz="1400" b="1" dirty="0"/>
            </a:p>
            <a:p>
              <a:pPr marL="342900" indent="-342900">
                <a:buFont typeface="Arial" panose="020B0604020202020204" pitchFamily="34" charset="0"/>
                <a:buChar char="•"/>
              </a:pPr>
              <a:r>
                <a:rPr lang="en-US" sz="1400" dirty="0"/>
                <a:t>Saves water – Irrigation happens only when needed, so no wastage.</a:t>
              </a:r>
            </a:p>
            <a:p>
              <a:pPr marL="342900" indent="-342900">
                <a:buFont typeface="Arial" panose="020B0604020202020204" pitchFamily="34" charset="0"/>
                <a:buChar char="•"/>
              </a:pPr>
              <a:r>
                <a:rPr lang="en-US" sz="1400" dirty="0"/>
                <a:t>Better crop growth – Uses VPD and sunlight data to give plants the right amount of water.</a:t>
              </a:r>
            </a:p>
            <a:p>
              <a:pPr marL="342900" indent="-342900">
                <a:buFont typeface="Arial" panose="020B0604020202020204" pitchFamily="34" charset="0"/>
                <a:buChar char="•"/>
              </a:pPr>
              <a:r>
                <a:rPr lang="en-US" sz="1400" dirty="0"/>
                <a:t>Reduces manual work – System works automatically using IoT sensors.</a:t>
              </a:r>
            </a:p>
            <a:p>
              <a:pPr marL="342900" indent="-342900">
                <a:buFont typeface="Arial" panose="020B0604020202020204" pitchFamily="34" charset="0"/>
                <a:buChar char="•"/>
              </a:pPr>
              <a:r>
                <a:rPr lang="en-US" sz="1400" dirty="0"/>
                <a:t>Improves yield – Healthy watering leads to better production.</a:t>
              </a:r>
            </a:p>
            <a:p>
              <a:pPr marL="342900" indent="-342900">
                <a:buFont typeface="Arial" panose="020B0604020202020204" pitchFamily="34" charset="0"/>
                <a:buChar char="•"/>
              </a:pPr>
              <a:r>
                <a:rPr lang="en-US" sz="1400" dirty="0"/>
                <a:t>Smart decision-making – Combines multiple factors (humidity, temperature, sunlight) for accurate results.</a:t>
              </a:r>
            </a:p>
            <a:p>
              <a:pPr marL="342900" indent="-342900">
                <a:buFont typeface="Arial" panose="020B0604020202020204" pitchFamily="34" charset="0"/>
                <a:buChar char="•"/>
              </a:pPr>
              <a:endParaRPr lang="en-US" sz="1600" dirty="0"/>
            </a:p>
            <a:p>
              <a:r>
                <a:rPr lang="en-US" sz="1600" b="1" dirty="0"/>
                <a:t>Disadvantages</a:t>
              </a:r>
            </a:p>
            <a:p>
              <a:pPr marL="285750" indent="-285750">
                <a:buFont typeface="Arial" panose="020B0604020202020204" pitchFamily="34" charset="0"/>
                <a:buChar char="•"/>
              </a:pPr>
              <a:r>
                <a:rPr lang="en-US" sz="1400" dirty="0"/>
                <a:t>Depends on sensors and internet – If sensors give wrong data or the internet connection is weak, the system may not work properly.</a:t>
              </a:r>
            </a:p>
            <a:p>
              <a:pPr marL="285750" indent="-285750">
                <a:buFont typeface="Arial" panose="020B0604020202020204" pitchFamily="34" charset="0"/>
                <a:buChar char="•"/>
              </a:pPr>
              <a:r>
                <a:rPr lang="en-US" sz="1400" dirty="0"/>
                <a:t>Requires regular maintenance – Sensors need cleaning, calibration, and checking to keep the system accurate.</a:t>
              </a:r>
              <a:endParaRPr lang="en-IN" sz="1400" dirty="0"/>
            </a:p>
          </p:txBody>
        </p:sp>
        <p:sp>
          <p:nvSpPr>
            <p:cNvPr id="5" name="Shape 3">
              <a:extLst>
                <a:ext uri="{FF2B5EF4-FFF2-40B4-BE49-F238E27FC236}">
                  <a16:creationId xmlns:a16="http://schemas.microsoft.com/office/drawing/2014/main" id="{0D414936-714C-F235-7372-4D1EB96F17E3}"/>
                </a:ext>
              </a:extLst>
            </p:cNvPr>
            <p:cNvSpPr/>
            <p:nvPr/>
          </p:nvSpPr>
          <p:spPr>
            <a:xfrm>
              <a:off x="274320" y="914400"/>
              <a:ext cx="91440" cy="3575304"/>
            </a:xfrm>
            <a:prstGeom prst="rect">
              <a:avLst/>
            </a:prstGeom>
            <a:solidFill>
              <a:srgbClr val="2ECC71"/>
            </a:solidFill>
            <a:ln/>
          </p:spPr>
          <p:txBody>
            <a:bodyPr/>
            <a:lstStyle/>
            <a:p>
              <a:endParaRPr lang="en-IN"/>
            </a:p>
          </p:txBody>
        </p:sp>
        <p:sp>
          <p:nvSpPr>
            <p:cNvPr id="6" name="Text 4">
              <a:extLst>
                <a:ext uri="{FF2B5EF4-FFF2-40B4-BE49-F238E27FC236}">
                  <a16:creationId xmlns:a16="http://schemas.microsoft.com/office/drawing/2014/main" id="{68143BF1-2C69-3402-EACC-44CE963E7C69}"/>
                </a:ext>
              </a:extLst>
            </p:cNvPr>
            <p:cNvSpPr/>
            <p:nvPr/>
          </p:nvSpPr>
          <p:spPr>
            <a:xfrm>
              <a:off x="502920" y="987552"/>
              <a:ext cx="8229600" cy="320040"/>
            </a:xfrm>
            <a:prstGeom prst="rect">
              <a:avLst/>
            </a:prstGeom>
            <a:noFill/>
            <a:ln/>
          </p:spPr>
          <p:txBody>
            <a:bodyPr wrap="square" rtlCol="0" anchor="ctr"/>
            <a:lstStyle/>
            <a:p>
              <a:pPr marL="0" indent="0">
                <a:buNone/>
              </a:pPr>
              <a:endParaRPr lang="en-US" sz="1400" dirty="0"/>
            </a:p>
          </p:txBody>
        </p:sp>
      </p:grpSp>
      <p:sp>
        <p:nvSpPr>
          <p:cNvPr id="21" name="Shape 19">
            <a:extLst>
              <a:ext uri="{FF2B5EF4-FFF2-40B4-BE49-F238E27FC236}">
                <a16:creationId xmlns:a16="http://schemas.microsoft.com/office/drawing/2014/main" id="{494E6745-C07C-2B36-3112-7741952C73C6}"/>
              </a:ext>
            </a:extLst>
          </p:cNvPr>
          <p:cNvSpPr/>
          <p:nvPr/>
        </p:nvSpPr>
        <p:spPr>
          <a:xfrm>
            <a:off x="0" y="4892040"/>
            <a:ext cx="9144000" cy="256032"/>
          </a:xfrm>
          <a:prstGeom prst="rect">
            <a:avLst/>
          </a:prstGeom>
          <a:solidFill>
            <a:srgbClr val="1A9E57"/>
          </a:solidFill>
          <a:ln/>
        </p:spPr>
        <p:txBody>
          <a:bodyPr/>
          <a:lstStyle/>
          <a:p>
            <a:endParaRPr lang="en-IN"/>
          </a:p>
        </p:txBody>
      </p:sp>
      <p:sp>
        <p:nvSpPr>
          <p:cNvPr id="22" name="Text 20">
            <a:extLst>
              <a:ext uri="{FF2B5EF4-FFF2-40B4-BE49-F238E27FC236}">
                <a16:creationId xmlns:a16="http://schemas.microsoft.com/office/drawing/2014/main" id="{A8E548D3-AAF1-54D4-0DA7-FF68E59EE839}"/>
              </a:ext>
            </a:extLst>
          </p:cNvPr>
          <p:cNvSpPr/>
          <p:nvPr/>
        </p:nvSpPr>
        <p:spPr>
          <a:xfrm>
            <a:off x="0" y="4910328"/>
            <a:ext cx="9144000" cy="228600"/>
          </a:xfrm>
          <a:prstGeom prst="rect">
            <a:avLst/>
          </a:prstGeom>
          <a:noFill/>
          <a:ln/>
        </p:spPr>
        <p:txBody>
          <a:bodyPr wrap="square" rtlCol="0" anchor="ctr"/>
          <a:lstStyle/>
          <a:p>
            <a:pPr marL="0" indent="0" algn="ctr">
              <a:buNone/>
            </a:pPr>
            <a:r>
              <a:rPr lang="en-US" sz="1000" b="1" dirty="0">
                <a:solidFill>
                  <a:srgbClr val="FFFFFF"/>
                </a:solidFill>
              </a:rPr>
              <a:t>Smart Irrigation — Smarter Farming — Sustainable Future  |  Narayana Engineering College, Nellore</a:t>
            </a:r>
            <a:endParaRPr lang="en-US" sz="1000" dirty="0"/>
          </a:p>
        </p:txBody>
      </p:sp>
      <p:sp>
        <p:nvSpPr>
          <p:cNvPr id="26" name="Text 5">
            <a:extLst>
              <a:ext uri="{FF2B5EF4-FFF2-40B4-BE49-F238E27FC236}">
                <a16:creationId xmlns:a16="http://schemas.microsoft.com/office/drawing/2014/main" id="{E4BACAD4-768F-420D-D0D5-8B1ADAC564A0}"/>
              </a:ext>
            </a:extLst>
          </p:cNvPr>
          <p:cNvSpPr/>
          <p:nvPr/>
        </p:nvSpPr>
        <p:spPr>
          <a:xfrm>
            <a:off x="411480" y="1586484"/>
            <a:ext cx="8229600" cy="1945914"/>
          </a:xfrm>
          <a:prstGeom prst="rect">
            <a:avLst/>
          </a:prstGeom>
          <a:noFill/>
          <a:ln/>
        </p:spPr>
        <p:txBody>
          <a:bodyPr wrap="square" rtlCol="0" anchor="ctr"/>
          <a:lstStyle/>
          <a:p>
            <a:pPr algn="just">
              <a:lnSpc>
                <a:spcPct val="150000"/>
              </a:lnSpc>
            </a:pPr>
            <a:r>
              <a:rPr lang="en-US" sz="1200" dirty="0"/>
              <a:t>.</a:t>
            </a:r>
          </a:p>
        </p:txBody>
      </p:sp>
    </p:spTree>
    <p:extLst>
      <p:ext uri="{BB962C8B-B14F-4D97-AF65-F5344CB8AC3E}">
        <p14:creationId xmlns:p14="http://schemas.microsoft.com/office/powerpoint/2010/main" val="62838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FFE"/>
        </a:solidFill>
        <a:effectLst/>
      </p:bgPr>
    </p:bg>
    <p:spTree>
      <p:nvGrpSpPr>
        <p:cNvPr id="1" name="">
          <a:extLst>
            <a:ext uri="{FF2B5EF4-FFF2-40B4-BE49-F238E27FC236}">
              <a16:creationId xmlns:a16="http://schemas.microsoft.com/office/drawing/2014/main" id="{BA7961FE-E0FD-4F58-7AD9-5BF836A6F2A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3DC9D05-8306-F523-B9A6-BE7DB5BD588E}"/>
              </a:ext>
            </a:extLst>
          </p:cNvPr>
          <p:cNvSpPr/>
          <p:nvPr/>
        </p:nvSpPr>
        <p:spPr>
          <a:xfrm>
            <a:off x="0" y="0"/>
            <a:ext cx="9144000" cy="822960"/>
          </a:xfrm>
          <a:prstGeom prst="rect">
            <a:avLst/>
          </a:prstGeom>
          <a:solidFill>
            <a:srgbClr val="2ECC71"/>
          </a:solidFill>
          <a:ln/>
        </p:spPr>
        <p:txBody>
          <a:bodyPr/>
          <a:lstStyle/>
          <a:p>
            <a:endParaRPr lang="en-IN"/>
          </a:p>
        </p:txBody>
      </p:sp>
      <p:sp>
        <p:nvSpPr>
          <p:cNvPr id="3" name="Text 1">
            <a:extLst>
              <a:ext uri="{FF2B5EF4-FFF2-40B4-BE49-F238E27FC236}">
                <a16:creationId xmlns:a16="http://schemas.microsoft.com/office/drawing/2014/main" id="{FCEE5180-0EAE-817F-B96B-EE025267D6F8}"/>
              </a:ext>
            </a:extLst>
          </p:cNvPr>
          <p:cNvSpPr/>
          <p:nvPr/>
        </p:nvSpPr>
        <p:spPr>
          <a:xfrm>
            <a:off x="365760" y="109728"/>
            <a:ext cx="8412480" cy="603504"/>
          </a:xfrm>
          <a:prstGeom prst="rect">
            <a:avLst/>
          </a:prstGeom>
          <a:noFill/>
          <a:ln/>
        </p:spPr>
        <p:txBody>
          <a:bodyPr wrap="square" rtlCol="0" anchor="ctr"/>
          <a:lstStyle/>
          <a:p>
            <a:pPr marL="0" indent="0">
              <a:buNone/>
            </a:pPr>
            <a:r>
              <a:rPr lang="en-US" sz="2200" b="1" dirty="0">
                <a:solidFill>
                  <a:srgbClr val="FFFFFF"/>
                </a:solidFill>
              </a:rPr>
              <a:t>APPLICATIONS</a:t>
            </a:r>
            <a:endParaRPr lang="en-US" sz="2200" dirty="0"/>
          </a:p>
        </p:txBody>
      </p:sp>
      <p:grpSp>
        <p:nvGrpSpPr>
          <p:cNvPr id="25" name="Group 24">
            <a:extLst>
              <a:ext uri="{FF2B5EF4-FFF2-40B4-BE49-F238E27FC236}">
                <a16:creationId xmlns:a16="http://schemas.microsoft.com/office/drawing/2014/main" id="{40FC6847-3296-C171-6F64-1DD3C1912429}"/>
              </a:ext>
            </a:extLst>
          </p:cNvPr>
          <p:cNvGrpSpPr/>
          <p:nvPr/>
        </p:nvGrpSpPr>
        <p:grpSpPr>
          <a:xfrm>
            <a:off x="182880" y="1120140"/>
            <a:ext cx="8595360" cy="3575304"/>
            <a:chOff x="274320" y="914400"/>
            <a:chExt cx="8595360" cy="3575304"/>
          </a:xfrm>
        </p:grpSpPr>
        <p:sp>
          <p:nvSpPr>
            <p:cNvPr id="4" name="Shape 2">
              <a:extLst>
                <a:ext uri="{FF2B5EF4-FFF2-40B4-BE49-F238E27FC236}">
                  <a16:creationId xmlns:a16="http://schemas.microsoft.com/office/drawing/2014/main" id="{C3BEAF98-6025-DA29-341A-B77E9A4D4B58}"/>
                </a:ext>
              </a:extLst>
            </p:cNvPr>
            <p:cNvSpPr/>
            <p:nvPr/>
          </p:nvSpPr>
          <p:spPr>
            <a:xfrm>
              <a:off x="274320" y="914400"/>
              <a:ext cx="8595360" cy="3575304"/>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5" name="Shape 3">
              <a:extLst>
                <a:ext uri="{FF2B5EF4-FFF2-40B4-BE49-F238E27FC236}">
                  <a16:creationId xmlns:a16="http://schemas.microsoft.com/office/drawing/2014/main" id="{4458DBCF-344F-6C3F-C7EA-FC3CE7C4F5F9}"/>
                </a:ext>
              </a:extLst>
            </p:cNvPr>
            <p:cNvSpPr/>
            <p:nvPr/>
          </p:nvSpPr>
          <p:spPr>
            <a:xfrm>
              <a:off x="274320" y="914400"/>
              <a:ext cx="91440" cy="3575304"/>
            </a:xfrm>
            <a:prstGeom prst="rect">
              <a:avLst/>
            </a:prstGeom>
            <a:solidFill>
              <a:srgbClr val="2ECC71"/>
            </a:solidFill>
            <a:ln/>
          </p:spPr>
          <p:txBody>
            <a:bodyPr/>
            <a:lstStyle/>
            <a:p>
              <a:endParaRPr lang="en-IN"/>
            </a:p>
          </p:txBody>
        </p:sp>
        <p:sp>
          <p:nvSpPr>
            <p:cNvPr id="6" name="Text 4">
              <a:extLst>
                <a:ext uri="{FF2B5EF4-FFF2-40B4-BE49-F238E27FC236}">
                  <a16:creationId xmlns:a16="http://schemas.microsoft.com/office/drawing/2014/main" id="{6FCCCE73-52DA-8DD8-401D-81E0D29E7F5E}"/>
                </a:ext>
              </a:extLst>
            </p:cNvPr>
            <p:cNvSpPr/>
            <p:nvPr/>
          </p:nvSpPr>
          <p:spPr>
            <a:xfrm>
              <a:off x="502920" y="987552"/>
              <a:ext cx="8229600" cy="320040"/>
            </a:xfrm>
            <a:prstGeom prst="rect">
              <a:avLst/>
            </a:prstGeom>
            <a:noFill/>
            <a:ln/>
          </p:spPr>
          <p:txBody>
            <a:bodyPr wrap="square" rtlCol="0" anchor="ctr"/>
            <a:lstStyle/>
            <a:p>
              <a:pPr marL="0" indent="0">
                <a:buNone/>
              </a:pPr>
              <a:endParaRPr lang="en-US" sz="1400" dirty="0"/>
            </a:p>
          </p:txBody>
        </p:sp>
      </p:grpSp>
      <p:sp>
        <p:nvSpPr>
          <p:cNvPr id="21" name="Shape 19">
            <a:extLst>
              <a:ext uri="{FF2B5EF4-FFF2-40B4-BE49-F238E27FC236}">
                <a16:creationId xmlns:a16="http://schemas.microsoft.com/office/drawing/2014/main" id="{C3FE31EA-3C97-BFC3-DF56-2E4B1DA4734E}"/>
              </a:ext>
            </a:extLst>
          </p:cNvPr>
          <p:cNvSpPr/>
          <p:nvPr/>
        </p:nvSpPr>
        <p:spPr>
          <a:xfrm>
            <a:off x="0" y="4892040"/>
            <a:ext cx="9144000" cy="256032"/>
          </a:xfrm>
          <a:prstGeom prst="rect">
            <a:avLst/>
          </a:prstGeom>
          <a:solidFill>
            <a:srgbClr val="1A9E57"/>
          </a:solidFill>
          <a:ln/>
        </p:spPr>
        <p:txBody>
          <a:bodyPr/>
          <a:lstStyle/>
          <a:p>
            <a:endParaRPr lang="en-IN"/>
          </a:p>
        </p:txBody>
      </p:sp>
      <p:sp>
        <p:nvSpPr>
          <p:cNvPr id="22" name="Text 20">
            <a:extLst>
              <a:ext uri="{FF2B5EF4-FFF2-40B4-BE49-F238E27FC236}">
                <a16:creationId xmlns:a16="http://schemas.microsoft.com/office/drawing/2014/main" id="{3720FB23-DF34-091A-6463-BE419253ECDF}"/>
              </a:ext>
            </a:extLst>
          </p:cNvPr>
          <p:cNvSpPr/>
          <p:nvPr/>
        </p:nvSpPr>
        <p:spPr>
          <a:xfrm>
            <a:off x="0" y="4910328"/>
            <a:ext cx="9144000" cy="228600"/>
          </a:xfrm>
          <a:prstGeom prst="rect">
            <a:avLst/>
          </a:prstGeom>
          <a:noFill/>
          <a:ln/>
        </p:spPr>
        <p:txBody>
          <a:bodyPr wrap="square" rtlCol="0" anchor="ctr"/>
          <a:lstStyle/>
          <a:p>
            <a:pPr marL="0" indent="0" algn="ctr">
              <a:buNone/>
            </a:pPr>
            <a:r>
              <a:rPr lang="en-US" sz="1000" b="1" dirty="0">
                <a:solidFill>
                  <a:srgbClr val="FFFFFF"/>
                </a:solidFill>
              </a:rPr>
              <a:t>Smart Irrigation — Smarter Farming — Sustainable Future  |  Narayana Engineering College, Nellore</a:t>
            </a:r>
            <a:endParaRPr lang="en-US" sz="1000" dirty="0"/>
          </a:p>
        </p:txBody>
      </p:sp>
      <p:sp>
        <p:nvSpPr>
          <p:cNvPr id="26" name="Text 5">
            <a:extLst>
              <a:ext uri="{FF2B5EF4-FFF2-40B4-BE49-F238E27FC236}">
                <a16:creationId xmlns:a16="http://schemas.microsoft.com/office/drawing/2014/main" id="{B7722BB3-4624-5025-F71E-733463243FB6}"/>
              </a:ext>
            </a:extLst>
          </p:cNvPr>
          <p:cNvSpPr/>
          <p:nvPr/>
        </p:nvSpPr>
        <p:spPr>
          <a:xfrm>
            <a:off x="251460" y="1316736"/>
            <a:ext cx="8229600" cy="1639824"/>
          </a:xfrm>
          <a:prstGeom prst="rect">
            <a:avLst/>
          </a:prstGeom>
          <a:noFill/>
          <a:ln/>
        </p:spPr>
        <p:txBody>
          <a:bodyPr wrap="square" rtlCol="0" anchor="ctr"/>
          <a:lstStyle/>
          <a:p>
            <a:pPr marL="228600" indent="-228600" algn="just">
              <a:lnSpc>
                <a:spcPct val="150000"/>
              </a:lnSpc>
              <a:buFont typeface="Arial" panose="020B0604020202020204" pitchFamily="34" charset="0"/>
              <a:buChar char="•"/>
            </a:pPr>
            <a:r>
              <a:rPr lang="en-US" sz="1600" dirty="0"/>
              <a:t>Smart farming – Used in modern agriculture fields.</a:t>
            </a:r>
          </a:p>
          <a:p>
            <a:pPr marL="228600" indent="-228600" algn="just">
              <a:lnSpc>
                <a:spcPct val="150000"/>
              </a:lnSpc>
              <a:buFont typeface="Arial" panose="020B0604020202020204" pitchFamily="34" charset="0"/>
              <a:buChar char="•"/>
            </a:pPr>
            <a:r>
              <a:rPr lang="en-US" sz="1600" dirty="0"/>
              <a:t> Greenhouses – Maintains ideal environment for plants.</a:t>
            </a:r>
          </a:p>
          <a:p>
            <a:pPr marL="228600" indent="-228600" algn="just">
              <a:lnSpc>
                <a:spcPct val="150000"/>
              </a:lnSpc>
              <a:buFont typeface="Arial" panose="020B0604020202020204" pitchFamily="34" charset="0"/>
              <a:buChar char="•"/>
            </a:pPr>
            <a:r>
              <a:rPr lang="en-US" sz="1600" dirty="0"/>
              <a:t> Horticulture – Useful for fruits, vegetables, and flowers.</a:t>
            </a:r>
          </a:p>
          <a:p>
            <a:pPr marL="228600" indent="-228600" algn="just">
              <a:lnSpc>
                <a:spcPct val="150000"/>
              </a:lnSpc>
              <a:buFont typeface="Arial" panose="020B0604020202020204" pitchFamily="34" charset="0"/>
              <a:buChar char="•"/>
            </a:pPr>
            <a:r>
              <a:rPr lang="en-US" sz="1600" dirty="0"/>
              <a:t> Urban gardening – Helps manage watering in small gardens or terraces.</a:t>
            </a:r>
          </a:p>
          <a:p>
            <a:pPr marL="228600" indent="-228600" algn="just">
              <a:lnSpc>
                <a:spcPct val="150000"/>
              </a:lnSpc>
              <a:buFont typeface="Arial" panose="020B0604020202020204" pitchFamily="34" charset="0"/>
              <a:buChar char="•"/>
            </a:pPr>
            <a:r>
              <a:rPr lang="en-US" sz="1600" dirty="0"/>
              <a:t>Research farms – Used for studying plant growth and climate effects.</a:t>
            </a:r>
          </a:p>
        </p:txBody>
      </p:sp>
    </p:spTree>
    <p:extLst>
      <p:ext uri="{BB962C8B-B14F-4D97-AF65-F5344CB8AC3E}">
        <p14:creationId xmlns:p14="http://schemas.microsoft.com/office/powerpoint/2010/main" val="1383409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CC71"/>
          </a:solidFill>
          <a:ln/>
        </p:spPr>
        <p:txBody>
          <a:bodyPr/>
          <a:lstStyle/>
          <a:p>
            <a:endParaRPr lang="en-IN"/>
          </a:p>
        </p:txBody>
      </p:sp>
      <p:sp>
        <p:nvSpPr>
          <p:cNvPr id="3" name="Text 1"/>
          <p:cNvSpPr/>
          <p:nvPr/>
        </p:nvSpPr>
        <p:spPr>
          <a:xfrm>
            <a:off x="365760" y="109728"/>
            <a:ext cx="8412480" cy="603504"/>
          </a:xfrm>
          <a:prstGeom prst="rect">
            <a:avLst/>
          </a:prstGeom>
          <a:noFill/>
          <a:ln/>
        </p:spPr>
        <p:txBody>
          <a:bodyPr wrap="square" rtlCol="0" anchor="ctr"/>
          <a:lstStyle/>
          <a:p>
            <a:pPr marL="0" indent="0">
              <a:buNone/>
            </a:pPr>
            <a:r>
              <a:rPr lang="en-US" sz="2200" b="1" dirty="0">
                <a:solidFill>
                  <a:srgbClr val="FFFFFF"/>
                </a:solidFill>
              </a:rPr>
              <a:t> FUTURE SCOPE AND CONCLUSION</a:t>
            </a:r>
            <a:endParaRPr lang="en-US" sz="2200" dirty="0"/>
          </a:p>
        </p:txBody>
      </p:sp>
      <p:grpSp>
        <p:nvGrpSpPr>
          <p:cNvPr id="24" name="Group 23">
            <a:extLst>
              <a:ext uri="{FF2B5EF4-FFF2-40B4-BE49-F238E27FC236}">
                <a16:creationId xmlns:a16="http://schemas.microsoft.com/office/drawing/2014/main" id="{77312C2E-A8F4-D1A8-57FD-4DF294971C81}"/>
              </a:ext>
            </a:extLst>
          </p:cNvPr>
          <p:cNvGrpSpPr/>
          <p:nvPr/>
        </p:nvGrpSpPr>
        <p:grpSpPr>
          <a:xfrm>
            <a:off x="274320" y="932688"/>
            <a:ext cx="8732520" cy="1639062"/>
            <a:chOff x="274320" y="2670048"/>
            <a:chExt cx="8732520" cy="1993392"/>
          </a:xfrm>
        </p:grpSpPr>
        <p:sp>
          <p:nvSpPr>
            <p:cNvPr id="8" name="Text 6"/>
            <p:cNvSpPr/>
            <p:nvPr/>
          </p:nvSpPr>
          <p:spPr>
            <a:xfrm>
              <a:off x="365760" y="2670048"/>
              <a:ext cx="3657600" cy="320040"/>
            </a:xfrm>
            <a:prstGeom prst="rect">
              <a:avLst/>
            </a:prstGeom>
            <a:noFill/>
            <a:ln/>
          </p:spPr>
          <p:txBody>
            <a:bodyPr wrap="square" rtlCol="0" anchor="ctr"/>
            <a:lstStyle/>
            <a:p>
              <a:pPr marL="0" indent="0">
                <a:buNone/>
              </a:pPr>
              <a:r>
                <a:rPr lang="en-US" sz="1400" b="1" dirty="0">
                  <a:solidFill>
                    <a:srgbClr val="2C3E50"/>
                  </a:solidFill>
                </a:rPr>
                <a:t>Future Scope</a:t>
              </a:r>
              <a:endParaRPr lang="en-US" sz="1400" dirty="0"/>
            </a:p>
          </p:txBody>
        </p:sp>
        <p:grpSp>
          <p:nvGrpSpPr>
            <p:cNvPr id="23" name="Group 22">
              <a:extLst>
                <a:ext uri="{FF2B5EF4-FFF2-40B4-BE49-F238E27FC236}">
                  <a16:creationId xmlns:a16="http://schemas.microsoft.com/office/drawing/2014/main" id="{D7DE81C9-6CE2-A15D-B74F-B836EF6FA50F}"/>
                </a:ext>
              </a:extLst>
            </p:cNvPr>
            <p:cNvGrpSpPr/>
            <p:nvPr/>
          </p:nvGrpSpPr>
          <p:grpSpPr>
            <a:xfrm>
              <a:off x="274320" y="3090672"/>
              <a:ext cx="8732520" cy="1572768"/>
              <a:chOff x="274320" y="3090672"/>
              <a:chExt cx="8732520" cy="1572768"/>
            </a:xfrm>
          </p:grpSpPr>
          <p:sp>
            <p:nvSpPr>
              <p:cNvPr id="9" name="Shape 7"/>
              <p:cNvSpPr/>
              <p:nvPr/>
            </p:nvSpPr>
            <p:spPr>
              <a:xfrm>
                <a:off x="274320" y="3090672"/>
                <a:ext cx="4251960" cy="475488"/>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0" name="Text 8"/>
              <p:cNvSpPr/>
              <p:nvPr/>
            </p:nvSpPr>
            <p:spPr>
              <a:xfrm>
                <a:off x="411480" y="3182112"/>
                <a:ext cx="3977640" cy="320040"/>
              </a:xfrm>
              <a:prstGeom prst="rect">
                <a:avLst/>
              </a:prstGeom>
              <a:noFill/>
              <a:ln/>
            </p:spPr>
            <p:txBody>
              <a:bodyPr wrap="square" rtlCol="0" anchor="ctr"/>
              <a:lstStyle/>
              <a:p>
                <a:pPr marL="0" indent="0">
                  <a:buNone/>
                </a:pPr>
                <a:r>
                  <a:rPr lang="en-US" sz="1100" dirty="0">
                    <a:solidFill>
                      <a:srgbClr val="2C3E50"/>
                    </a:solidFill>
                  </a:rPr>
                  <a:t>🌐  Expand to cover entire fields with multiple sensor nodes</a:t>
                </a:r>
                <a:endParaRPr lang="en-US" sz="1100" dirty="0"/>
              </a:p>
            </p:txBody>
          </p:sp>
          <p:sp>
            <p:nvSpPr>
              <p:cNvPr id="11" name="Shape 9"/>
              <p:cNvSpPr/>
              <p:nvPr/>
            </p:nvSpPr>
            <p:spPr>
              <a:xfrm>
                <a:off x="4754880" y="3090672"/>
                <a:ext cx="4251960" cy="475488"/>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2" name="Text 10"/>
              <p:cNvSpPr/>
              <p:nvPr/>
            </p:nvSpPr>
            <p:spPr>
              <a:xfrm>
                <a:off x="4892040" y="3182112"/>
                <a:ext cx="3977640" cy="320040"/>
              </a:xfrm>
              <a:prstGeom prst="rect">
                <a:avLst/>
              </a:prstGeom>
              <a:noFill/>
              <a:ln/>
            </p:spPr>
            <p:txBody>
              <a:bodyPr wrap="square" rtlCol="0" anchor="ctr"/>
              <a:lstStyle/>
              <a:p>
                <a:pPr marL="0" indent="0">
                  <a:buNone/>
                </a:pPr>
                <a:r>
                  <a:rPr lang="en-US" sz="1100" dirty="0">
                    <a:solidFill>
                      <a:srgbClr val="2C3E50"/>
                    </a:solidFill>
                  </a:rPr>
                  <a:t>🤖  Add AI/ML model to learn crop-specific water patterns</a:t>
                </a:r>
                <a:endParaRPr lang="en-US" sz="1100" dirty="0"/>
              </a:p>
            </p:txBody>
          </p:sp>
          <p:sp>
            <p:nvSpPr>
              <p:cNvPr id="13" name="Shape 11"/>
              <p:cNvSpPr/>
              <p:nvPr/>
            </p:nvSpPr>
            <p:spPr>
              <a:xfrm>
                <a:off x="274320" y="3639312"/>
                <a:ext cx="4251960" cy="475488"/>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4" name="Text 12"/>
              <p:cNvSpPr/>
              <p:nvPr/>
            </p:nvSpPr>
            <p:spPr>
              <a:xfrm>
                <a:off x="411480" y="3730752"/>
                <a:ext cx="3977640" cy="320040"/>
              </a:xfrm>
              <a:prstGeom prst="rect">
                <a:avLst/>
              </a:prstGeom>
              <a:noFill/>
              <a:ln/>
            </p:spPr>
            <p:txBody>
              <a:bodyPr wrap="square" rtlCol="0" anchor="ctr"/>
              <a:lstStyle/>
              <a:p>
                <a:pPr marL="0" indent="0">
                  <a:buNone/>
                </a:pPr>
                <a:r>
                  <a:rPr lang="en-US" sz="1100" dirty="0">
                    <a:solidFill>
                      <a:srgbClr val="2C3E50"/>
                    </a:solidFill>
                  </a:rPr>
                  <a:t>🌦️  Use weather forecast data to plan irrigation 1–2 days ahead</a:t>
                </a:r>
                <a:endParaRPr lang="en-US" sz="1100" dirty="0"/>
              </a:p>
            </p:txBody>
          </p:sp>
          <p:sp>
            <p:nvSpPr>
              <p:cNvPr id="15" name="Shape 13"/>
              <p:cNvSpPr/>
              <p:nvPr/>
            </p:nvSpPr>
            <p:spPr>
              <a:xfrm>
                <a:off x="4754880" y="3639312"/>
                <a:ext cx="4251960" cy="475488"/>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6" name="Text 14"/>
              <p:cNvSpPr/>
              <p:nvPr/>
            </p:nvSpPr>
            <p:spPr>
              <a:xfrm>
                <a:off x="4892040" y="3730752"/>
                <a:ext cx="3977640" cy="320040"/>
              </a:xfrm>
              <a:prstGeom prst="rect">
                <a:avLst/>
              </a:prstGeom>
              <a:noFill/>
              <a:ln/>
            </p:spPr>
            <p:txBody>
              <a:bodyPr wrap="square" rtlCol="0" anchor="ctr"/>
              <a:lstStyle/>
              <a:p>
                <a:pPr marL="0" indent="0">
                  <a:buNone/>
                </a:pPr>
                <a:r>
                  <a:rPr lang="en-US" sz="1100" dirty="0">
                    <a:solidFill>
                      <a:srgbClr val="2C3E50"/>
                    </a:solidFill>
                  </a:rPr>
                  <a:t>🌱  Build crop-specific settings for rice, cotton, vegetables, etc.</a:t>
                </a:r>
                <a:endParaRPr lang="en-US" sz="1100" dirty="0"/>
              </a:p>
            </p:txBody>
          </p:sp>
          <p:sp>
            <p:nvSpPr>
              <p:cNvPr id="17" name="Shape 15"/>
              <p:cNvSpPr/>
              <p:nvPr/>
            </p:nvSpPr>
            <p:spPr>
              <a:xfrm>
                <a:off x="274320" y="4187952"/>
                <a:ext cx="4251960" cy="475488"/>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18" name="Text 16"/>
              <p:cNvSpPr/>
              <p:nvPr/>
            </p:nvSpPr>
            <p:spPr>
              <a:xfrm>
                <a:off x="411480" y="4279392"/>
                <a:ext cx="3977640" cy="320040"/>
              </a:xfrm>
              <a:prstGeom prst="rect">
                <a:avLst/>
              </a:prstGeom>
              <a:noFill/>
              <a:ln/>
            </p:spPr>
            <p:txBody>
              <a:bodyPr wrap="square" rtlCol="0" anchor="ctr"/>
              <a:lstStyle/>
              <a:p>
                <a:pPr marL="0" indent="0">
                  <a:buNone/>
                </a:pPr>
                <a:r>
                  <a:rPr lang="en-US" sz="1100" dirty="0">
                    <a:solidFill>
                      <a:srgbClr val="2C3E50"/>
                    </a:solidFill>
                  </a:rPr>
                  <a:t>☀️  Add solar panels so the system runs without electricity</a:t>
                </a:r>
                <a:endParaRPr lang="en-US" sz="1100" dirty="0"/>
              </a:p>
            </p:txBody>
          </p:sp>
          <p:sp>
            <p:nvSpPr>
              <p:cNvPr id="19" name="Shape 17"/>
              <p:cNvSpPr/>
              <p:nvPr/>
            </p:nvSpPr>
            <p:spPr>
              <a:xfrm>
                <a:off x="4754880" y="4187952"/>
                <a:ext cx="4251960" cy="475488"/>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IN"/>
              </a:p>
            </p:txBody>
          </p:sp>
          <p:sp>
            <p:nvSpPr>
              <p:cNvPr id="20" name="Text 18"/>
              <p:cNvSpPr/>
              <p:nvPr/>
            </p:nvSpPr>
            <p:spPr>
              <a:xfrm>
                <a:off x="4892040" y="4279392"/>
                <a:ext cx="3977640" cy="320040"/>
              </a:xfrm>
              <a:prstGeom prst="rect">
                <a:avLst/>
              </a:prstGeom>
              <a:noFill/>
              <a:ln/>
            </p:spPr>
            <p:txBody>
              <a:bodyPr wrap="square" rtlCol="0" anchor="ctr"/>
              <a:lstStyle/>
              <a:p>
                <a:pPr marL="0" indent="0">
                  <a:buNone/>
                </a:pPr>
                <a:r>
                  <a:rPr lang="en-US" sz="1100" dirty="0">
                    <a:solidFill>
                      <a:srgbClr val="2C3E50"/>
                    </a:solidFill>
                  </a:rPr>
                  <a:t>💰  Study cost savings vs investment to help farmers adopt it</a:t>
                </a:r>
                <a:endParaRPr lang="en-US" sz="1100" dirty="0"/>
              </a:p>
            </p:txBody>
          </p:sp>
        </p:grpSp>
      </p:grpSp>
      <p:sp>
        <p:nvSpPr>
          <p:cNvPr id="21" name="Shape 19"/>
          <p:cNvSpPr/>
          <p:nvPr/>
        </p:nvSpPr>
        <p:spPr>
          <a:xfrm>
            <a:off x="0" y="4892040"/>
            <a:ext cx="9144000" cy="256032"/>
          </a:xfrm>
          <a:prstGeom prst="rect">
            <a:avLst/>
          </a:prstGeom>
          <a:solidFill>
            <a:srgbClr val="1A9E57"/>
          </a:solidFill>
          <a:ln/>
        </p:spPr>
        <p:txBody>
          <a:bodyPr/>
          <a:lstStyle/>
          <a:p>
            <a:endParaRPr lang="en-IN"/>
          </a:p>
        </p:txBody>
      </p:sp>
      <p:sp>
        <p:nvSpPr>
          <p:cNvPr id="22" name="Text 20"/>
          <p:cNvSpPr/>
          <p:nvPr/>
        </p:nvSpPr>
        <p:spPr>
          <a:xfrm>
            <a:off x="0" y="4910328"/>
            <a:ext cx="9144000" cy="228600"/>
          </a:xfrm>
          <a:prstGeom prst="rect">
            <a:avLst/>
          </a:prstGeom>
          <a:noFill/>
          <a:ln/>
        </p:spPr>
        <p:txBody>
          <a:bodyPr wrap="square" rtlCol="0" anchor="ctr"/>
          <a:lstStyle/>
          <a:p>
            <a:pPr marL="0" indent="0" algn="ctr">
              <a:buNone/>
            </a:pPr>
            <a:r>
              <a:rPr lang="en-US" sz="1000" b="1" dirty="0">
                <a:solidFill>
                  <a:srgbClr val="FFFFFF"/>
                </a:solidFill>
              </a:rPr>
              <a:t>Smart Irrigation — Smarter Farming — Sustainable Future  |  Narayana Engineering College, Nellore</a:t>
            </a:r>
            <a:endParaRPr lang="en-US" sz="1000" dirty="0"/>
          </a:p>
        </p:txBody>
      </p:sp>
      <p:sp>
        <p:nvSpPr>
          <p:cNvPr id="7" name="TextBox 6">
            <a:extLst>
              <a:ext uri="{FF2B5EF4-FFF2-40B4-BE49-F238E27FC236}">
                <a16:creationId xmlns:a16="http://schemas.microsoft.com/office/drawing/2014/main" id="{067CD856-6A18-A5AA-F8E6-C61E4A645612}"/>
              </a:ext>
            </a:extLst>
          </p:cNvPr>
          <p:cNvSpPr txBox="1"/>
          <p:nvPr/>
        </p:nvSpPr>
        <p:spPr>
          <a:xfrm>
            <a:off x="251462" y="2716232"/>
            <a:ext cx="8732520" cy="1600438"/>
          </a:xfrm>
          <a:prstGeom prst="rect">
            <a:avLst/>
          </a:prstGeom>
          <a:noFill/>
        </p:spPr>
        <p:txBody>
          <a:bodyPr wrap="square">
            <a:spAutoFit/>
          </a:bodyPr>
          <a:lstStyle/>
          <a:p>
            <a:r>
              <a:rPr lang="en-US" sz="1400" b="1" dirty="0"/>
              <a:t>CONCLUSION</a:t>
            </a:r>
          </a:p>
          <a:p>
            <a:endParaRPr lang="en-US" sz="1400" b="1" dirty="0"/>
          </a:p>
          <a:p>
            <a:r>
              <a:rPr lang="en-US" sz="1400" dirty="0"/>
              <a:t>The system dynamically adjusts irrigation schedules using real-time environmental data, ensuring optimal soil moisture while minimizing human effort. It prevents overwatering and underwatering by responding to changing weather conditions. Its low-cost and energy-efficient design makes it suitable for both small and large-scale farmers, especially in rural areas. The built-in fault detection and remote monitoring features improve reliability and reduce labor. Overall, it offers a scalable and sustainable solution for efficient smart farming.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FFE"/>
        </a:solidFill>
        <a:effectLst/>
      </p:bgPr>
    </p:bg>
    <p:spTree>
      <p:nvGrpSpPr>
        <p:cNvPr id="1" name="">
          <a:extLst>
            <a:ext uri="{FF2B5EF4-FFF2-40B4-BE49-F238E27FC236}">
              <a16:creationId xmlns:a16="http://schemas.microsoft.com/office/drawing/2014/main" id="{EE11C99B-B5C9-0F70-C03F-C9318B164C9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E6A33F-4182-1B3B-6DF2-E05C155F2B38}"/>
              </a:ext>
            </a:extLst>
          </p:cNvPr>
          <p:cNvSpPr/>
          <p:nvPr/>
        </p:nvSpPr>
        <p:spPr>
          <a:xfrm>
            <a:off x="0" y="0"/>
            <a:ext cx="9144000" cy="822960"/>
          </a:xfrm>
          <a:prstGeom prst="rect">
            <a:avLst/>
          </a:prstGeom>
          <a:solidFill>
            <a:srgbClr val="2ECC71"/>
          </a:solidFill>
          <a:ln/>
        </p:spPr>
        <p:txBody>
          <a:bodyPr/>
          <a:lstStyle/>
          <a:p>
            <a:endParaRPr lang="en-IN"/>
          </a:p>
        </p:txBody>
      </p:sp>
      <p:sp>
        <p:nvSpPr>
          <p:cNvPr id="3" name="Text 1">
            <a:extLst>
              <a:ext uri="{FF2B5EF4-FFF2-40B4-BE49-F238E27FC236}">
                <a16:creationId xmlns:a16="http://schemas.microsoft.com/office/drawing/2014/main" id="{F4132850-EAD7-1CA5-DCFF-7F71B37AA5CC}"/>
              </a:ext>
            </a:extLst>
          </p:cNvPr>
          <p:cNvSpPr/>
          <p:nvPr/>
        </p:nvSpPr>
        <p:spPr>
          <a:xfrm>
            <a:off x="365760" y="109728"/>
            <a:ext cx="8412480" cy="603504"/>
          </a:xfrm>
          <a:prstGeom prst="rect">
            <a:avLst/>
          </a:prstGeom>
          <a:noFill/>
          <a:ln/>
        </p:spPr>
        <p:txBody>
          <a:bodyPr wrap="square" rtlCol="0" anchor="ctr"/>
          <a:lstStyle/>
          <a:p>
            <a:pPr marL="0" indent="0">
              <a:buNone/>
            </a:pPr>
            <a:r>
              <a:rPr lang="en-US" sz="2200" b="1" dirty="0">
                <a:solidFill>
                  <a:srgbClr val="FFFFFF"/>
                </a:solidFill>
              </a:rPr>
              <a:t>REFERENCES</a:t>
            </a:r>
            <a:endParaRPr lang="en-US" sz="2200" dirty="0"/>
          </a:p>
        </p:txBody>
      </p:sp>
      <p:grpSp>
        <p:nvGrpSpPr>
          <p:cNvPr id="25" name="Group 24">
            <a:extLst>
              <a:ext uri="{FF2B5EF4-FFF2-40B4-BE49-F238E27FC236}">
                <a16:creationId xmlns:a16="http://schemas.microsoft.com/office/drawing/2014/main" id="{28D94486-D8AA-AC4A-BBFF-9DE824EA1A63}"/>
              </a:ext>
            </a:extLst>
          </p:cNvPr>
          <p:cNvGrpSpPr/>
          <p:nvPr/>
        </p:nvGrpSpPr>
        <p:grpSpPr>
          <a:xfrm>
            <a:off x="182880" y="1120140"/>
            <a:ext cx="8595360" cy="3575304"/>
            <a:chOff x="274320" y="914400"/>
            <a:chExt cx="8595360" cy="3575304"/>
          </a:xfrm>
        </p:grpSpPr>
        <p:sp>
          <p:nvSpPr>
            <p:cNvPr id="4" name="Shape 2">
              <a:extLst>
                <a:ext uri="{FF2B5EF4-FFF2-40B4-BE49-F238E27FC236}">
                  <a16:creationId xmlns:a16="http://schemas.microsoft.com/office/drawing/2014/main" id="{61135939-4327-7FEB-7A23-5277B04A71FD}"/>
                </a:ext>
              </a:extLst>
            </p:cNvPr>
            <p:cNvSpPr/>
            <p:nvPr/>
          </p:nvSpPr>
          <p:spPr>
            <a:xfrm>
              <a:off x="274320" y="914400"/>
              <a:ext cx="8595360" cy="3575304"/>
            </a:xfrm>
            <a:prstGeom prst="rect">
              <a:avLst/>
            </a:prstGeom>
            <a:solidFill>
              <a:srgbClr val="FFFFFF"/>
            </a:solidFill>
            <a:ln/>
            <a:effectLst>
              <a:outerShdw blurRad="101600" dist="38100" dir="8100000" algn="bl" rotWithShape="0">
                <a:srgbClr val="000000">
                  <a:alpha val="10000"/>
                </a:srgbClr>
              </a:outerShdw>
            </a:effectLst>
          </p:spPr>
          <p:txBody>
            <a:bodyPr/>
            <a:lstStyle/>
            <a:p>
              <a:pPr algn="just">
                <a:spcBef>
                  <a:spcPts val="600"/>
                </a:spcBef>
                <a:spcAft>
                  <a:spcPts val="600"/>
                </a:spcAft>
              </a:pPr>
              <a:r>
                <a:rPr lang="en-US" sz="1400" dirty="0">
                  <a:effectLst/>
                  <a:latin typeface="Times New Roman" panose="02020603050405020304" pitchFamily="18" charset="0"/>
                  <a:ea typeface="Times New Roman" panose="02020603050405020304" pitchFamily="18" charset="0"/>
                </a:rPr>
                <a:t>[1] N. </a:t>
              </a:r>
              <a:r>
                <a:rPr lang="en-US" sz="1400" dirty="0" err="1">
                  <a:effectLst/>
                  <a:latin typeface="Times New Roman" panose="02020603050405020304" pitchFamily="18" charset="0"/>
                  <a:ea typeface="Times New Roman" panose="02020603050405020304" pitchFamily="18" charset="0"/>
                </a:rPr>
                <a:t>Gondchawar</a:t>
              </a:r>
              <a:r>
                <a:rPr lang="en-US" sz="1400" dirty="0">
                  <a:effectLst/>
                  <a:latin typeface="Times New Roman" panose="02020603050405020304" pitchFamily="18" charset="0"/>
                  <a:ea typeface="Times New Roman" panose="02020603050405020304" pitchFamily="18" charset="0"/>
                </a:rPr>
                <a:t> and R. S. </a:t>
              </a:r>
              <a:r>
                <a:rPr lang="en-US" sz="1400" dirty="0" err="1">
                  <a:effectLst/>
                  <a:latin typeface="Times New Roman" panose="02020603050405020304" pitchFamily="18" charset="0"/>
                  <a:ea typeface="Times New Roman" panose="02020603050405020304" pitchFamily="18" charset="0"/>
                </a:rPr>
                <a:t>Kawitkar</a:t>
              </a:r>
              <a:r>
                <a:rPr lang="en-US" sz="1400" dirty="0">
                  <a:effectLst/>
                  <a:latin typeface="Times New Roman" panose="02020603050405020304" pitchFamily="18" charset="0"/>
                  <a:ea typeface="Times New Roman" panose="02020603050405020304" pitchFamily="18" charset="0"/>
                </a:rPr>
                <a:t>, "IoT Based Smart Agriculture," International Journal of Advanced Research in Computer and Communication Engineering, vol. 5, no. 6, pp. 838–842, June 2016.</a:t>
              </a:r>
              <a:endParaRPr lang="en-IN" sz="1400" dirty="0">
                <a:effectLst/>
                <a:latin typeface="Times New Roman" panose="02020603050405020304" pitchFamily="18" charset="0"/>
                <a:ea typeface="Times New Roman" panose="02020603050405020304" pitchFamily="18" charset="0"/>
              </a:endParaRPr>
            </a:p>
            <a:p>
              <a:pPr algn="just">
                <a:spcBef>
                  <a:spcPts val="600"/>
                </a:spcBef>
                <a:spcAft>
                  <a:spcPts val="600"/>
                </a:spcAft>
              </a:pPr>
              <a:r>
                <a:rPr lang="en-US" sz="1400" dirty="0">
                  <a:effectLst/>
                  <a:latin typeface="Times New Roman" panose="02020603050405020304" pitchFamily="18" charset="0"/>
                  <a:ea typeface="Times New Roman" panose="02020603050405020304" pitchFamily="18" charset="0"/>
                </a:rPr>
                <a:t>[2] S. S. Patil and B. M. Kale, "A Model for Smart Agriculture Using IoT," in Proc. International Conference on Global Trends in Signal Processing, Information Computing and Communication (ICGTSPICC), Jalgaon, India, 2016, pp. 543–545.</a:t>
              </a:r>
              <a:endParaRPr lang="en-IN" sz="1400" dirty="0">
                <a:effectLst/>
                <a:latin typeface="Times New Roman" panose="02020603050405020304" pitchFamily="18" charset="0"/>
                <a:ea typeface="Times New Roman" panose="02020603050405020304" pitchFamily="18" charset="0"/>
              </a:endParaRPr>
            </a:p>
            <a:p>
              <a:pPr algn="just">
                <a:spcBef>
                  <a:spcPts val="600"/>
                </a:spcBef>
                <a:spcAft>
                  <a:spcPts val="600"/>
                </a:spcAft>
              </a:pPr>
              <a:r>
                <a:rPr lang="en-US" sz="1400" dirty="0">
                  <a:effectLst/>
                  <a:latin typeface="Times New Roman" panose="02020603050405020304" pitchFamily="18" charset="0"/>
                  <a:ea typeface="Times New Roman" panose="02020603050405020304" pitchFamily="18" charset="0"/>
                </a:rPr>
                <a:t>[3] J. M. Gutiérrez, J. F. Villa-Medina, A. Nieto-Garibay, and M. Á. Porta-Gándara, "Automated Irrigation System Using a Wireless Sensor Network and GPRS Module," IEEE Transactions on Instrumentation and Measurement, vol. 63, no. 1, pp. 166–176, Jan. 2014.</a:t>
              </a:r>
              <a:endParaRPr lang="en-IN" sz="1400" dirty="0">
                <a:effectLst/>
                <a:latin typeface="Times New Roman" panose="02020603050405020304" pitchFamily="18" charset="0"/>
                <a:ea typeface="Times New Roman" panose="02020603050405020304" pitchFamily="18" charset="0"/>
              </a:endParaRPr>
            </a:p>
            <a:p>
              <a:pPr algn="just">
                <a:spcBef>
                  <a:spcPts val="600"/>
                </a:spcBef>
                <a:spcAft>
                  <a:spcPts val="600"/>
                </a:spcAft>
              </a:pPr>
              <a:r>
                <a:rPr lang="en-US" sz="1400" dirty="0">
                  <a:effectLst/>
                  <a:latin typeface="Times New Roman" panose="02020603050405020304" pitchFamily="18" charset="0"/>
                  <a:ea typeface="Times New Roman" panose="02020603050405020304" pitchFamily="18" charset="0"/>
                </a:rPr>
                <a:t>[4] A. Sharma, A. Jain, P. Gupta, and V. Chowdary, "Machine Learning Applications for Precision Agriculture: A Comprehensive Review," IEEE Access, vol. 9, pp. 4843–4873, 2021.</a:t>
              </a:r>
              <a:endParaRPr lang="en-IN" sz="1400" dirty="0">
                <a:effectLst/>
                <a:latin typeface="Times New Roman" panose="02020603050405020304" pitchFamily="18" charset="0"/>
                <a:ea typeface="Times New Roman" panose="02020603050405020304" pitchFamily="18" charset="0"/>
              </a:endParaRPr>
            </a:p>
            <a:p>
              <a:endParaRPr lang="en-IN" dirty="0"/>
            </a:p>
          </p:txBody>
        </p:sp>
        <p:sp>
          <p:nvSpPr>
            <p:cNvPr id="5" name="Shape 3">
              <a:extLst>
                <a:ext uri="{FF2B5EF4-FFF2-40B4-BE49-F238E27FC236}">
                  <a16:creationId xmlns:a16="http://schemas.microsoft.com/office/drawing/2014/main" id="{E1FFA443-0D82-7B88-0C04-C967785DCFD0}"/>
                </a:ext>
              </a:extLst>
            </p:cNvPr>
            <p:cNvSpPr/>
            <p:nvPr/>
          </p:nvSpPr>
          <p:spPr>
            <a:xfrm>
              <a:off x="274320" y="914400"/>
              <a:ext cx="91440" cy="3575304"/>
            </a:xfrm>
            <a:prstGeom prst="rect">
              <a:avLst/>
            </a:prstGeom>
            <a:solidFill>
              <a:srgbClr val="2ECC71"/>
            </a:solidFill>
            <a:ln/>
          </p:spPr>
          <p:txBody>
            <a:bodyPr/>
            <a:lstStyle/>
            <a:p>
              <a:endParaRPr lang="en-IN"/>
            </a:p>
          </p:txBody>
        </p:sp>
        <p:sp>
          <p:nvSpPr>
            <p:cNvPr id="6" name="Text 4">
              <a:extLst>
                <a:ext uri="{FF2B5EF4-FFF2-40B4-BE49-F238E27FC236}">
                  <a16:creationId xmlns:a16="http://schemas.microsoft.com/office/drawing/2014/main" id="{F0770F81-381A-1F5F-3DB2-48D5F6386200}"/>
                </a:ext>
              </a:extLst>
            </p:cNvPr>
            <p:cNvSpPr/>
            <p:nvPr/>
          </p:nvSpPr>
          <p:spPr>
            <a:xfrm>
              <a:off x="502920" y="987552"/>
              <a:ext cx="8229600" cy="320040"/>
            </a:xfrm>
            <a:prstGeom prst="rect">
              <a:avLst/>
            </a:prstGeom>
            <a:noFill/>
            <a:ln/>
          </p:spPr>
          <p:txBody>
            <a:bodyPr wrap="square" rtlCol="0" anchor="ctr"/>
            <a:lstStyle/>
            <a:p>
              <a:pPr marL="0" indent="0">
                <a:buNone/>
              </a:pPr>
              <a:endParaRPr lang="en-US" sz="1400" dirty="0"/>
            </a:p>
          </p:txBody>
        </p:sp>
      </p:grpSp>
      <p:sp>
        <p:nvSpPr>
          <p:cNvPr id="21" name="Shape 19">
            <a:extLst>
              <a:ext uri="{FF2B5EF4-FFF2-40B4-BE49-F238E27FC236}">
                <a16:creationId xmlns:a16="http://schemas.microsoft.com/office/drawing/2014/main" id="{9AA7B540-F6EA-2B91-B5C8-E7A8EDA8DFE9}"/>
              </a:ext>
            </a:extLst>
          </p:cNvPr>
          <p:cNvSpPr/>
          <p:nvPr/>
        </p:nvSpPr>
        <p:spPr>
          <a:xfrm>
            <a:off x="0" y="4892040"/>
            <a:ext cx="9144000" cy="256032"/>
          </a:xfrm>
          <a:prstGeom prst="rect">
            <a:avLst/>
          </a:prstGeom>
          <a:solidFill>
            <a:srgbClr val="1A9E57"/>
          </a:solidFill>
          <a:ln/>
        </p:spPr>
        <p:txBody>
          <a:bodyPr/>
          <a:lstStyle/>
          <a:p>
            <a:endParaRPr lang="en-IN"/>
          </a:p>
        </p:txBody>
      </p:sp>
      <p:sp>
        <p:nvSpPr>
          <p:cNvPr id="22" name="Text 20">
            <a:extLst>
              <a:ext uri="{FF2B5EF4-FFF2-40B4-BE49-F238E27FC236}">
                <a16:creationId xmlns:a16="http://schemas.microsoft.com/office/drawing/2014/main" id="{E985FA6F-734D-02DE-9F1D-28C5511B911C}"/>
              </a:ext>
            </a:extLst>
          </p:cNvPr>
          <p:cNvSpPr/>
          <p:nvPr/>
        </p:nvSpPr>
        <p:spPr>
          <a:xfrm>
            <a:off x="0" y="4910328"/>
            <a:ext cx="9144000" cy="228600"/>
          </a:xfrm>
          <a:prstGeom prst="rect">
            <a:avLst/>
          </a:prstGeom>
          <a:noFill/>
          <a:ln/>
        </p:spPr>
        <p:txBody>
          <a:bodyPr wrap="square" rtlCol="0" anchor="ctr"/>
          <a:lstStyle/>
          <a:p>
            <a:pPr marL="0" indent="0" algn="ctr">
              <a:buNone/>
            </a:pPr>
            <a:r>
              <a:rPr lang="en-US" sz="1000" b="1" dirty="0">
                <a:solidFill>
                  <a:srgbClr val="FFFFFF"/>
                </a:solidFill>
              </a:rPr>
              <a:t>Smart Irrigation — Smarter Farming — Sustainable Future  |  Narayana Engineering College, Nellore</a:t>
            </a:r>
            <a:endParaRPr lang="en-US" sz="1000" dirty="0"/>
          </a:p>
        </p:txBody>
      </p:sp>
      <p:sp>
        <p:nvSpPr>
          <p:cNvPr id="26" name="Text 5">
            <a:extLst>
              <a:ext uri="{FF2B5EF4-FFF2-40B4-BE49-F238E27FC236}">
                <a16:creationId xmlns:a16="http://schemas.microsoft.com/office/drawing/2014/main" id="{97A85A38-AAAE-F794-9C93-4B5EE12B39A1}"/>
              </a:ext>
            </a:extLst>
          </p:cNvPr>
          <p:cNvSpPr/>
          <p:nvPr/>
        </p:nvSpPr>
        <p:spPr>
          <a:xfrm>
            <a:off x="411480" y="2435118"/>
            <a:ext cx="8229600" cy="1097280"/>
          </a:xfrm>
          <a:prstGeom prst="rect">
            <a:avLst/>
          </a:prstGeom>
          <a:noFill/>
          <a:ln/>
        </p:spPr>
        <p:txBody>
          <a:bodyPr wrap="square" rtlCol="0" anchor="ctr"/>
          <a:lstStyle/>
          <a:p>
            <a:pPr algn="just">
              <a:lnSpc>
                <a:spcPct val="150000"/>
              </a:lnSpc>
            </a:pPr>
            <a:endParaRPr lang="en-US" sz="1200" dirty="0"/>
          </a:p>
        </p:txBody>
      </p:sp>
    </p:spTree>
    <p:extLst>
      <p:ext uri="{BB962C8B-B14F-4D97-AF65-F5344CB8AC3E}">
        <p14:creationId xmlns:p14="http://schemas.microsoft.com/office/powerpoint/2010/main" val="867950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3F1849-2B33-C15A-3AE1-34B4AB142662}"/>
              </a:ext>
            </a:extLst>
          </p:cNvPr>
          <p:cNvPicPr>
            <a:picLocks noChangeAspect="1"/>
          </p:cNvPicPr>
          <p:nvPr/>
        </p:nvPicPr>
        <p:blipFill>
          <a:blip r:embed="rId2"/>
          <a:stretch>
            <a:fillRect/>
          </a:stretch>
        </p:blipFill>
        <p:spPr>
          <a:xfrm>
            <a:off x="0" y="1"/>
            <a:ext cx="9144000" cy="5143500"/>
          </a:xfrm>
          <a:prstGeom prst="rect">
            <a:avLst/>
          </a:prstGeom>
        </p:spPr>
      </p:pic>
    </p:spTree>
    <p:extLst>
      <p:ext uri="{BB962C8B-B14F-4D97-AF65-F5344CB8AC3E}">
        <p14:creationId xmlns:p14="http://schemas.microsoft.com/office/powerpoint/2010/main" val="297098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TotalTime>
  <Words>1670</Words>
  <Application>Microsoft Office PowerPoint</Application>
  <PresentationFormat>On-screen Show (16:9)</PresentationFormat>
  <Paragraphs>210</Paragraphs>
  <Slides>16</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IoT-Based Predictive Irrigation Scheduling</dc:title>
  <dc:subject>PptxGenJS Presentation</dc:subject>
  <dc:creator>PptxGenJS</dc:creator>
  <cp:lastModifiedBy>harichandana poluru</cp:lastModifiedBy>
  <cp:revision>43</cp:revision>
  <dcterms:created xsi:type="dcterms:W3CDTF">2026-04-20T06:54:10Z</dcterms:created>
  <dcterms:modified xsi:type="dcterms:W3CDTF">2026-04-21T12:25:13Z</dcterms:modified>
</cp:coreProperties>
</file>